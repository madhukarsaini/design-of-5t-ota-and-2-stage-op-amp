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47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C90D945-1502-4084-A44A-5EAF143F3D56}">
  <a:tblStyle styleId="{FC90D945-1502-4084-A44A-5EAF143F3D5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a17be32aa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a17be32a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a17be32aa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fa17be32aa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a17be32a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fa17be32a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a17be32aa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a17be32aa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fa17be32aa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fa17be32aa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fa17be32aa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fa17be32aa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a17be32aa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a17be32aa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a17be32aa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a17be32aa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62615d265e29e05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h62615d265e29e05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a17be32aa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fa17be32aa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a17be32aa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fa17be32aa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62615d265e29e05_1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h62615d265e29e05_1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fa17be32aa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fa17be32aa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7b52bb88144b8cfc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7b52bb88144b8cfc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62615d265e29e05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h62615d265e29e05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a17be32aa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fa17be32aa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h52f5e118674cf967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h52f5e118674cf967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h62615d265e29e05_1_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h62615d265e29e05_1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a17be32aa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fa17be32aa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h52f5e118674cf96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h52f5e118674cf96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h52f5e118674cf96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h52f5e118674cf96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52f5e118674cf96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h52f5e118674cf96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h52f5e118674cf96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h52f5e118674cf96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h52f5e118674cf96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h52f5e118674cf96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52f5e118674cf967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h52f5e118674cf96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8ee5dce368adbdf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8ee5dce368adbdf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h52f5e118674cf967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h52f5e118674cf967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52f5e118674cf967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h52f5e118674cf967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h52f5e118674cf967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h52f5e118674cf967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h52f5e118674cf96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h52f5e118674cf96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h52f5e118674cf967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h52f5e118674cf967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52f5e118674cf967_0_2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h52f5e118674cf967_0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h52f5e118674cf967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h52f5e118674cf967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h52f5e118674cf967_0_1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h52f5e118674cf967_0_1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h52f5e118674cf967_0_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h52f5e118674cf967_0_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h52f5e118674cf967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h52f5e118674cf967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h52f5e118674cf967_0_1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h52f5e118674cf967_0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h52f5e118674cf967_0_2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h52f5e118674cf967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52f5e118674cf967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h52f5e118674cf967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h52f5e118674cf967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h52f5e118674cf967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h52f5e118674cf967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h52f5e118674cf967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h52f5e118674cf967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h52f5e118674cf967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h52f5e118674cf967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h52f5e118674cf967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h52f5e118674cf967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h52f5e118674cf967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h52f5e118674cf96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h52f5e118674cf96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fa17be32aa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fa17be32aa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png"/><Relationship Id="rId4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png"/><Relationship Id="rId4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0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8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0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0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0.png"/><Relationship Id="rId4" Type="http://schemas.openxmlformats.org/officeDocument/2006/relationships/image" Target="../media/image1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8.png"/><Relationship Id="rId4" Type="http://schemas.openxmlformats.org/officeDocument/2006/relationships/image" Target="../media/image19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3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2.png"/><Relationship Id="rId4" Type="http://schemas.openxmlformats.org/officeDocument/2006/relationships/image" Target="../media/image2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5.png"/><Relationship Id="rId4" Type="http://schemas.openxmlformats.org/officeDocument/2006/relationships/image" Target="../media/image2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7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6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2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1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4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8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1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9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of NMOS 5TOTA</a:t>
            </a:r>
            <a:endParaRPr/>
          </a:p>
        </p:txBody>
      </p:sp>
      <p:sp>
        <p:nvSpPr>
          <p:cNvPr id="55" name="Google Shape;55;p13"/>
          <p:cNvSpPr txBox="1"/>
          <p:nvPr/>
        </p:nvSpPr>
        <p:spPr>
          <a:xfrm>
            <a:off x="5143500" y="3683925"/>
            <a:ext cx="37794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180">
                <a:solidFill>
                  <a:schemeClr val="dk1"/>
                </a:solidFill>
              </a:rPr>
              <a:t>Presented By</a:t>
            </a:r>
            <a:endParaRPr sz="2180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180">
                <a:solidFill>
                  <a:schemeClr val="dk1"/>
                </a:solidFill>
              </a:rPr>
              <a:t>Madhukar Saini</a:t>
            </a:r>
            <a:endParaRPr sz="218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700375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Specifications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804025" y="1087700"/>
            <a:ext cx="4422600" cy="236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Gain : &gt; 30dB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Slew Rate</a:t>
            </a:r>
            <a:r>
              <a:rPr lang="en" sz="1400">
                <a:solidFill>
                  <a:schemeClr val="dk1"/>
                </a:solidFill>
              </a:rPr>
              <a:t> : 5V/µS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Load Capacitance (CL) : 10pF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ICMR : 1V to 1.8V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Gain Bandwidth Product (GBW) : 5MHz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Ph</a:t>
            </a:r>
            <a:r>
              <a:rPr lang="en" sz="1400">
                <a:solidFill>
                  <a:schemeClr val="dk1"/>
                </a:solidFill>
              </a:rPr>
              <a:t>ase Margin (PM) : &gt; 60</a:t>
            </a:r>
            <a:r>
              <a:rPr lang="en" sz="1400">
                <a:solidFill>
                  <a:schemeClr val="dk1"/>
                </a:solidFill>
                <a:highlight>
                  <a:srgbClr val="FFFFFF"/>
                </a:highlight>
              </a:rPr>
              <a:t>°</a:t>
            </a:r>
            <a:endParaRPr sz="1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Temperature in range −40℃ to 125℃</a:t>
            </a:r>
            <a:endParaRPr sz="1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VDD : 2.5V</a:t>
            </a:r>
            <a:endParaRPr sz="1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404175" y="283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Circuit - 5TOTA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5525" y="1044700"/>
            <a:ext cx="3690826" cy="346752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053200" y="1657275"/>
            <a:ext cx="3236400" cy="276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highlight>
                  <a:schemeClr val="lt1"/>
                </a:highlight>
              </a:rPr>
              <a:t>Calculation of I</a:t>
            </a:r>
            <a:r>
              <a:rPr b="1" baseline="-25000" lang="en" sz="1800">
                <a:solidFill>
                  <a:schemeClr val="dk1"/>
                </a:solidFill>
                <a:highlight>
                  <a:schemeClr val="lt1"/>
                </a:highlight>
              </a:rPr>
              <a:t>SS</a:t>
            </a:r>
            <a:endParaRPr b="1" baseline="-25000" sz="1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We know,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SWR = I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ss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 /C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L</a:t>
            </a:r>
            <a:endParaRPr baseline="-25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5 (V/</a:t>
            </a:r>
            <a:r>
              <a:rPr lang="en">
                <a:solidFill>
                  <a:schemeClr val="dk1"/>
                </a:solidFill>
              </a:rPr>
              <a:t>μ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S) = I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ss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 / 10 pF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Therefore, 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I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ss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 = 5 (V/</a:t>
            </a:r>
            <a:r>
              <a:rPr lang="en">
                <a:solidFill>
                  <a:schemeClr val="dk1"/>
                </a:solidFill>
              </a:rPr>
              <a:t>μ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S) x 10 pF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I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ss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 = 50 </a:t>
            </a:r>
            <a:r>
              <a:rPr lang="en">
                <a:solidFill>
                  <a:schemeClr val="dk1"/>
                </a:solidFill>
              </a:rPr>
              <a:t>μ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A</a:t>
            </a:r>
            <a:endParaRPr b="1" baseline="-25000" sz="1800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  <p:cxnSp>
        <p:nvCxnSpPr>
          <p:cNvPr id="69" name="Google Shape;69;p15"/>
          <p:cNvCxnSpPr/>
          <p:nvPr/>
        </p:nvCxnSpPr>
        <p:spPr>
          <a:xfrm flipH="1">
            <a:off x="4914350" y="1622625"/>
            <a:ext cx="11700" cy="251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424850" y="2601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1</a:t>
            </a:r>
            <a:r>
              <a:rPr lang="en"/>
              <a:t> and M</a:t>
            </a:r>
            <a:r>
              <a:rPr baseline="-25000" lang="en"/>
              <a:t>2</a:t>
            </a:r>
            <a:endParaRPr baseline="-25000"/>
          </a:p>
        </p:txBody>
      </p:sp>
      <p:sp>
        <p:nvSpPr>
          <p:cNvPr id="75" name="Google Shape;75;p16"/>
          <p:cNvSpPr txBox="1"/>
          <p:nvPr/>
        </p:nvSpPr>
        <p:spPr>
          <a:xfrm>
            <a:off x="909400" y="832800"/>
            <a:ext cx="4512000" cy="42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We know,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GBW = 5 MHz 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GBW = </a:t>
            </a:r>
            <a:r>
              <a:rPr lang="en">
                <a:solidFill>
                  <a:schemeClr val="dk1"/>
                </a:solidFill>
              </a:rPr>
              <a:t>Gain × 1st pole 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1st pole (ω</a:t>
            </a:r>
            <a:r>
              <a:rPr baseline="-25000" lang="en">
                <a:solidFill>
                  <a:schemeClr val="dk1"/>
                </a:solidFill>
              </a:rPr>
              <a:t>pole</a:t>
            </a:r>
            <a:r>
              <a:rPr lang="en">
                <a:solidFill>
                  <a:schemeClr val="dk1"/>
                </a:solidFill>
              </a:rPr>
              <a:t> ) = 1 / (2πR</a:t>
            </a:r>
            <a:r>
              <a:rPr baseline="-25000" lang="en">
                <a:solidFill>
                  <a:schemeClr val="dk1"/>
                </a:solidFill>
              </a:rPr>
              <a:t>out</a:t>
            </a:r>
            <a:r>
              <a:rPr lang="en">
                <a:solidFill>
                  <a:schemeClr val="dk1"/>
                </a:solidFill>
              </a:rPr>
              <a:t>C</a:t>
            </a:r>
            <a:r>
              <a:rPr baseline="-25000" lang="en">
                <a:solidFill>
                  <a:schemeClr val="dk1"/>
                </a:solidFill>
              </a:rPr>
              <a:t>L</a:t>
            </a:r>
            <a:r>
              <a:rPr lang="en">
                <a:solidFill>
                  <a:schemeClr val="dk1"/>
                </a:solidFill>
              </a:rPr>
              <a:t>) 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Gain = −gm</a:t>
            </a:r>
            <a:r>
              <a:rPr baseline="-25000" lang="en">
                <a:solidFill>
                  <a:schemeClr val="dk1"/>
                </a:solidFill>
              </a:rPr>
              <a:t>1,2</a:t>
            </a:r>
            <a:r>
              <a:rPr lang="en">
                <a:solidFill>
                  <a:schemeClr val="dk1"/>
                </a:solidFill>
              </a:rPr>
              <a:t> × R</a:t>
            </a:r>
            <a:r>
              <a:rPr baseline="-25000" lang="en">
                <a:solidFill>
                  <a:schemeClr val="dk1"/>
                </a:solidFill>
              </a:rPr>
              <a:t>out</a:t>
            </a:r>
            <a:endParaRPr baseline="-25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Therefore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GBW = −gm</a:t>
            </a:r>
            <a:r>
              <a:rPr baseline="-25000" lang="en">
                <a:solidFill>
                  <a:schemeClr val="dk1"/>
                </a:solidFill>
              </a:rPr>
              <a:t>1,2</a:t>
            </a:r>
            <a:r>
              <a:rPr lang="en">
                <a:solidFill>
                  <a:schemeClr val="dk1"/>
                </a:solidFill>
              </a:rPr>
              <a:t> × R</a:t>
            </a:r>
            <a:r>
              <a:rPr baseline="-25000" lang="en">
                <a:solidFill>
                  <a:schemeClr val="dk1"/>
                </a:solidFill>
              </a:rPr>
              <a:t>out </a:t>
            </a:r>
            <a:r>
              <a:rPr lang="en">
                <a:solidFill>
                  <a:schemeClr val="dk1"/>
                </a:solidFill>
              </a:rPr>
              <a:t>× 1/(2πR</a:t>
            </a:r>
            <a:r>
              <a:rPr baseline="-25000" lang="en">
                <a:solidFill>
                  <a:schemeClr val="dk1"/>
                </a:solidFill>
              </a:rPr>
              <a:t>out</a:t>
            </a:r>
            <a:r>
              <a:rPr lang="en">
                <a:solidFill>
                  <a:schemeClr val="dk1"/>
                </a:solidFill>
              </a:rPr>
              <a:t>C</a:t>
            </a:r>
            <a:r>
              <a:rPr baseline="-25000" lang="en">
                <a:solidFill>
                  <a:schemeClr val="dk1"/>
                </a:solidFill>
              </a:rPr>
              <a:t>L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GBW = −gm</a:t>
            </a:r>
            <a:r>
              <a:rPr baseline="-25000" lang="en">
                <a:solidFill>
                  <a:schemeClr val="dk1"/>
                </a:solidFill>
              </a:rPr>
              <a:t>1,2</a:t>
            </a:r>
            <a:r>
              <a:rPr lang="en">
                <a:solidFill>
                  <a:schemeClr val="dk1"/>
                </a:solidFill>
              </a:rPr>
              <a:t> / (2πC</a:t>
            </a:r>
            <a:r>
              <a:rPr baseline="-25000" lang="en">
                <a:solidFill>
                  <a:schemeClr val="dk1"/>
                </a:solidFill>
              </a:rPr>
              <a:t>L</a:t>
            </a:r>
            <a:r>
              <a:rPr lang="en">
                <a:solidFill>
                  <a:schemeClr val="dk1"/>
                </a:solidFill>
              </a:rPr>
              <a:t>)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Therefore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gm</a:t>
            </a:r>
            <a:r>
              <a:rPr baseline="-25000" lang="en">
                <a:solidFill>
                  <a:schemeClr val="dk1"/>
                </a:solidFill>
              </a:rPr>
              <a:t>1,2</a:t>
            </a:r>
            <a:r>
              <a:rPr lang="en">
                <a:solidFill>
                  <a:schemeClr val="dk1"/>
                </a:solidFill>
              </a:rPr>
              <a:t> = GBW × 2πC</a:t>
            </a:r>
            <a:r>
              <a:rPr baseline="-25000" lang="en">
                <a:solidFill>
                  <a:schemeClr val="dk1"/>
                </a:solidFill>
              </a:rPr>
              <a:t>L</a:t>
            </a:r>
            <a:r>
              <a:rPr lang="en">
                <a:solidFill>
                  <a:schemeClr val="dk1"/>
                </a:solidFill>
              </a:rPr>
              <a:t> = 314 μA/V;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Since C</a:t>
            </a:r>
            <a:r>
              <a:rPr baseline="-25000" lang="en">
                <a:solidFill>
                  <a:schemeClr val="dk1"/>
                </a:solidFill>
              </a:rPr>
              <a:t>L</a:t>
            </a:r>
            <a:r>
              <a:rPr lang="en">
                <a:solidFill>
                  <a:schemeClr val="dk1"/>
                </a:solidFill>
              </a:rPr>
              <a:t> = 10 pF and GBW = 5 MHz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5075525" y="686375"/>
            <a:ext cx="3516600" cy="3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We know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gm = √(2I</a:t>
            </a:r>
            <a:r>
              <a:rPr baseline="-25000" lang="en">
                <a:solidFill>
                  <a:schemeClr val="dk1"/>
                </a:solidFill>
              </a:rPr>
              <a:t>D</a:t>
            </a:r>
            <a:r>
              <a:rPr lang="en">
                <a:solidFill>
                  <a:schemeClr val="dk1"/>
                </a:solidFill>
              </a:rPr>
              <a:t>μ</a:t>
            </a:r>
            <a:r>
              <a:rPr baseline="-25000" lang="en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C</a:t>
            </a:r>
            <a:r>
              <a:rPr baseline="-25000" lang="en">
                <a:solidFill>
                  <a:schemeClr val="dk1"/>
                </a:solidFill>
              </a:rPr>
              <a:t>ox</a:t>
            </a:r>
            <a:r>
              <a:rPr lang="en">
                <a:solidFill>
                  <a:schemeClr val="dk1"/>
                </a:solidFill>
              </a:rPr>
              <a:t> (W/L))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Therefore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(W/L) = gm² / (2I</a:t>
            </a:r>
            <a:r>
              <a:rPr baseline="-25000" lang="en">
                <a:solidFill>
                  <a:schemeClr val="dk1"/>
                </a:solidFill>
              </a:rPr>
              <a:t>D</a:t>
            </a:r>
            <a:r>
              <a:rPr lang="en">
                <a:solidFill>
                  <a:schemeClr val="dk1"/>
                </a:solidFill>
              </a:rPr>
              <a:t>μ</a:t>
            </a:r>
            <a:r>
              <a:rPr baseline="-25000" lang="en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C</a:t>
            </a:r>
            <a:r>
              <a:rPr baseline="-25000" lang="en">
                <a:solidFill>
                  <a:schemeClr val="dk1"/>
                </a:solidFill>
              </a:rPr>
              <a:t>ox</a:t>
            </a:r>
            <a:r>
              <a:rPr lang="en">
                <a:solidFill>
                  <a:schemeClr val="dk1"/>
                </a:solidFill>
              </a:rPr>
              <a:t>) 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Since I</a:t>
            </a:r>
            <a:r>
              <a:rPr baseline="-25000" lang="en">
                <a:solidFill>
                  <a:schemeClr val="dk1"/>
                </a:solidFill>
              </a:rPr>
              <a:t>D</a:t>
            </a:r>
            <a:r>
              <a:rPr lang="en">
                <a:solidFill>
                  <a:schemeClr val="dk1"/>
                </a:solidFill>
              </a:rPr>
              <a:t> = I</a:t>
            </a:r>
            <a:r>
              <a:rPr baseline="-25000" lang="en">
                <a:solidFill>
                  <a:schemeClr val="dk1"/>
                </a:solidFill>
              </a:rPr>
              <a:t>SS</a:t>
            </a:r>
            <a:r>
              <a:rPr lang="en">
                <a:solidFill>
                  <a:schemeClr val="dk1"/>
                </a:solidFill>
              </a:rPr>
              <a:t>/2  =  50 μA/2 = 25 μA</a:t>
            </a:r>
            <a:endParaRPr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 (W/L) = 7.88 ≈ 8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Here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μ</a:t>
            </a:r>
            <a:r>
              <a:rPr baseline="-25000" lang="en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C</a:t>
            </a:r>
            <a:r>
              <a:rPr baseline="-25000" lang="en">
                <a:solidFill>
                  <a:schemeClr val="dk1"/>
                </a:solidFill>
              </a:rPr>
              <a:t>ox</a:t>
            </a:r>
            <a:r>
              <a:rPr lang="en">
                <a:solidFill>
                  <a:schemeClr val="dk1"/>
                </a:solidFill>
              </a:rPr>
              <a:t> = 250 μA/V² 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μ</a:t>
            </a:r>
            <a:r>
              <a:rPr baseline="-25000" lang="en">
                <a:solidFill>
                  <a:schemeClr val="dk1"/>
                </a:solidFill>
              </a:rPr>
              <a:t>p</a:t>
            </a:r>
            <a:r>
              <a:rPr lang="en">
                <a:solidFill>
                  <a:schemeClr val="dk1"/>
                </a:solidFill>
              </a:rPr>
              <a:t>C</a:t>
            </a:r>
            <a:r>
              <a:rPr baseline="-25000" lang="en">
                <a:solidFill>
                  <a:schemeClr val="dk1"/>
                </a:solidFill>
              </a:rPr>
              <a:t>ox</a:t>
            </a:r>
            <a:r>
              <a:rPr lang="en">
                <a:solidFill>
                  <a:schemeClr val="dk1"/>
                </a:solidFill>
              </a:rPr>
              <a:t> = 55 μA/V²  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77" name="Google Shape;77;p16"/>
          <p:cNvCxnSpPr/>
          <p:nvPr/>
        </p:nvCxnSpPr>
        <p:spPr>
          <a:xfrm>
            <a:off x="4627775" y="580375"/>
            <a:ext cx="0" cy="3860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2138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3</a:t>
            </a:r>
            <a:r>
              <a:rPr lang="en"/>
              <a:t> and M</a:t>
            </a:r>
            <a:r>
              <a:rPr baseline="-25000" lang="en"/>
              <a:t>4</a:t>
            </a:r>
            <a:endParaRPr baseline="-25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3" name="Google Shape;83;p17"/>
          <p:cNvCxnSpPr/>
          <p:nvPr/>
        </p:nvCxnSpPr>
        <p:spPr>
          <a:xfrm>
            <a:off x="4619625" y="571500"/>
            <a:ext cx="0" cy="385770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4" name="Google Shape;84;p17"/>
          <p:cNvSpPr txBox="1"/>
          <p:nvPr/>
        </p:nvSpPr>
        <p:spPr>
          <a:xfrm>
            <a:off x="762000" y="857250"/>
            <a:ext cx="3619500" cy="3810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ICMR⁺ = VDD − V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SG3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+ V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aseline="-25000" lang="en"/>
              <a:t>1,2</a:t>
            </a:r>
            <a:endParaRPr b="0" baseline="-2500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Here,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VDD = 2.5 V, V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TH1,2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0.</a:t>
            </a:r>
            <a:r>
              <a:rPr lang="en"/>
              <a:t>8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V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Therefore,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SG3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VDD − ICMR⁺ + V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TH1,2</a:t>
            </a:r>
            <a:endParaRPr b="0" baseline="-2500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V</a:t>
            </a:r>
            <a:r>
              <a:rPr baseline="-25000" lang="en" sz="1400">
                <a:solidFill>
                  <a:srgbClr val="000000"/>
                </a:solidFill>
              </a:rPr>
              <a:t>SG3</a:t>
            </a:r>
            <a:r>
              <a:rPr lang="en" sz="1400">
                <a:solidFill>
                  <a:srgbClr val="000000"/>
                </a:solidFill>
              </a:rPr>
              <a:t> = </a:t>
            </a:r>
            <a:r>
              <a:rPr lang="en"/>
              <a:t>1.5</a:t>
            </a:r>
            <a:r>
              <a:rPr lang="en" sz="1400">
                <a:solidFill>
                  <a:srgbClr val="000000"/>
                </a:solidFill>
              </a:rPr>
              <a:t> V</a:t>
            </a:r>
            <a:endParaRPr sz="1400">
              <a:solidFill>
                <a:srgbClr val="000000"/>
              </a:solidFill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4713600" y="666750"/>
            <a:ext cx="4118700" cy="400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Finding (W/L)</a:t>
            </a:r>
            <a:r>
              <a:rPr b="1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3,4</a:t>
            </a:r>
            <a:endParaRPr b="1" baseline="-2500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PMOS M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D3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 )μ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(W/L)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(V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SG3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|V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THp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|)²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Therefore,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3,4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2I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D3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[μ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(V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SG3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|V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THp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)²]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3,4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1.855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≈ </a:t>
            </a:r>
            <a:r>
              <a:rPr lang="en"/>
              <a:t>2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Here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μ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 </a:t>
            </a:r>
            <a:r>
              <a:rPr lang="en"/>
              <a:t>250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</a:t>
            </a:r>
            <a:r>
              <a:rPr lang="en"/>
              <a:t>A/V² 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μ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 </a:t>
            </a:r>
            <a:r>
              <a:rPr lang="en"/>
              <a:t>5</a:t>
            </a:r>
            <a:r>
              <a:rPr b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 μ</a:t>
            </a:r>
            <a:r>
              <a:rPr lang="en"/>
              <a:t>A/V² </a:t>
            </a:r>
            <a:endParaRPr b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8"/>
          <p:cNvSpPr txBox="1"/>
          <p:nvPr>
            <p:ph type="title"/>
          </p:nvPr>
        </p:nvSpPr>
        <p:spPr>
          <a:xfrm>
            <a:off x="311700" y="3063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0</a:t>
            </a:r>
            <a:r>
              <a:rPr lang="en"/>
              <a:t> and M</a:t>
            </a:r>
            <a:r>
              <a:rPr baseline="-25000" lang="en"/>
              <a:t>5</a:t>
            </a:r>
            <a:endParaRPr baseline="-25000"/>
          </a:p>
        </p:txBody>
      </p:sp>
      <p:cxnSp>
        <p:nvCxnSpPr>
          <p:cNvPr id="91" name="Google Shape;91;p18"/>
          <p:cNvCxnSpPr/>
          <p:nvPr/>
        </p:nvCxnSpPr>
        <p:spPr>
          <a:xfrm>
            <a:off x="4619625" y="571500"/>
            <a:ext cx="8100" cy="338190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2" name="Google Shape;92;p18"/>
          <p:cNvSpPr txBox="1"/>
          <p:nvPr/>
        </p:nvSpPr>
        <p:spPr>
          <a:xfrm>
            <a:off x="762000" y="857250"/>
            <a:ext cx="3619500" cy="3810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ICMR⁻ = V</a:t>
            </a:r>
            <a:r>
              <a:rPr lang="en"/>
              <a:t>ov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5,0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+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GS1</a:t>
            </a:r>
            <a:endParaRPr b="0" baseline="-2500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Therefore,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lang="en"/>
              <a:t>ov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5,0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ICMR⁻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GS1</a:t>
            </a:r>
            <a:endParaRPr b="0" baseline="-2500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lang="en"/>
              <a:t>ov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5,0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1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00 mV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0</a:t>
            </a:r>
            <a:r>
              <a:rPr lang="en"/>
              <a:t>.8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V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have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i="0" lang="en" sz="1400">
                <a:solidFill>
                  <a:srgbClr val="000000"/>
                </a:solidFill>
              </a:rPr>
              <a:t>V</a:t>
            </a:r>
            <a:r>
              <a:rPr baseline="-25000" i="0" lang="en" sz="1400">
                <a:solidFill>
                  <a:srgbClr val="000000"/>
                </a:solidFill>
              </a:rPr>
              <a:t>GS1</a:t>
            </a:r>
            <a:r>
              <a:rPr i="0" lang="en" sz="1400">
                <a:solidFill>
                  <a:srgbClr val="000000"/>
                </a:solidFill>
              </a:rPr>
              <a:t> = </a:t>
            </a:r>
            <a:r>
              <a:rPr lang="en"/>
              <a:t>0.9</a:t>
            </a:r>
            <a:r>
              <a:rPr i="0" lang="en" sz="1400">
                <a:solidFill>
                  <a:srgbClr val="000000"/>
                </a:solidFill>
              </a:rPr>
              <a:t>V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8"/>
          <p:cNvSpPr txBox="1"/>
          <p:nvPr/>
        </p:nvSpPr>
        <p:spPr>
          <a:xfrm>
            <a:off x="4713600" y="666750"/>
            <a:ext cx="4118700" cy="439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Finding (W/L)</a:t>
            </a:r>
            <a:r>
              <a:rPr b="1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5,0</a:t>
            </a:r>
            <a:endParaRPr b="1" baseline="-2500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D5,0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5,0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5,0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2I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)²]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Therefore,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5,0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40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Here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μ</a:t>
            </a:r>
            <a:r>
              <a:rPr baseline="-25000" lang="en">
                <a:solidFill>
                  <a:schemeClr val="dk1"/>
                </a:solidFill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250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</a:t>
            </a:r>
            <a:r>
              <a:rPr lang="en"/>
              <a:t>A/V² 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55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</a:t>
            </a:r>
            <a:r>
              <a:rPr lang="en"/>
              <a:t>A/V² 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623400" y="260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</a:t>
            </a:r>
            <a:endParaRPr/>
          </a:p>
        </p:txBody>
      </p:sp>
      <p:pic>
        <p:nvPicPr>
          <p:cNvPr id="99" name="Google Shape;9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3650" y="1078600"/>
            <a:ext cx="5156701" cy="370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type="title"/>
          </p:nvPr>
        </p:nvSpPr>
        <p:spPr>
          <a:xfrm>
            <a:off x="820275" y="2947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Sizes</a:t>
            </a:r>
            <a:r>
              <a:rPr lang="en" sz="2022"/>
              <a:t>(W/L)</a:t>
            </a:r>
            <a:r>
              <a:rPr lang="en"/>
              <a:t> of transistors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05" name="Google Shape;105;p20"/>
          <p:cNvGraphicFramePr/>
          <p:nvPr/>
        </p:nvGraphicFramePr>
        <p:xfrm>
          <a:off x="1028400" y="2250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{FC90D945-1502-4084-A44A-5EAF143F3D56}</a:tableStyleId>
              </a:tblPr>
              <a:tblGrid>
                <a:gridCol w="1794525"/>
                <a:gridCol w="1785975"/>
                <a:gridCol w="1785975"/>
              </a:tblGrid>
              <a:tr h="448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Transistor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Size from Calculation </a:t>
                      </a:r>
                      <a:r>
                        <a:rPr lang="en"/>
                        <a:t>in (W/L)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Size adjustment in the Simulation 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in (W/L)</a:t>
                      </a:r>
                      <a:endParaRPr/>
                    </a:p>
                  </a:txBody>
                  <a:tcPr marT="91425" marB="91425" marR="91425" marL="91425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1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</a:t>
                      </a:r>
                      <a:r>
                        <a:rPr baseline="-25000" lang="en"/>
                        <a:t>1</a:t>
                      </a:r>
                      <a:r>
                        <a:rPr lang="en"/>
                        <a:t> and M</a:t>
                      </a:r>
                      <a:r>
                        <a:rPr baseline="-25000" lang="en"/>
                        <a:t>2</a:t>
                      </a:r>
                      <a:endParaRPr baseline="-25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8</a:t>
                      </a:r>
                      <a:endParaRPr/>
                    </a:p>
                  </a:txBody>
                  <a:tcPr marT="91425" marB="91425" marR="91425" marL="9142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μ</a:t>
                      </a:r>
                      <a:r>
                        <a:rPr lang="en"/>
                        <a:t>/500n, f = 2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1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</a:t>
                      </a:r>
                      <a:r>
                        <a:rPr baseline="-25000" lang="en"/>
                        <a:t>3</a:t>
                      </a:r>
                      <a:r>
                        <a:rPr lang="en"/>
                        <a:t> and M</a:t>
                      </a:r>
                      <a:r>
                        <a:rPr baseline="-25000" lang="en"/>
                        <a:t>4</a:t>
                      </a:r>
                      <a:endParaRPr baseline="-25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μ</a:t>
                      </a:r>
                      <a:r>
                        <a:rPr lang="en"/>
                        <a:t>/1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μ</a:t>
                      </a:r>
                      <a:r>
                        <a:rPr lang="en"/>
                        <a:t>, f = 2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1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</a:t>
                      </a:r>
                      <a:r>
                        <a:rPr baseline="-25000" lang="en"/>
                        <a:t>5</a:t>
                      </a:r>
                      <a:r>
                        <a:rPr lang="en"/>
                        <a:t> and M</a:t>
                      </a:r>
                      <a:r>
                        <a:rPr baseline="-25000" lang="en"/>
                        <a:t>0</a:t>
                      </a:r>
                      <a:endParaRPr baseline="-25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40</a:t>
                      </a:r>
                      <a:endParaRPr/>
                    </a:p>
                  </a:txBody>
                  <a:tcPr marT="91425" marB="91425" marR="91425" marL="9142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μ</a:t>
                      </a:r>
                      <a:r>
                        <a:rPr lang="en"/>
                        <a:t>/1.4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μ</a:t>
                      </a:r>
                      <a:r>
                        <a:rPr lang="en"/>
                        <a:t>, f = 10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6" name="Google Shape;106;p20"/>
          <p:cNvSpPr txBox="1"/>
          <p:nvPr/>
        </p:nvSpPr>
        <p:spPr>
          <a:xfrm>
            <a:off x="903700" y="1194850"/>
            <a:ext cx="7352100" cy="9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Sizes of transistors from calculations has adjusted a bit to get results according to the specifications.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07" name="Google Shape;107;p20"/>
          <p:cNvSpPr txBox="1"/>
          <p:nvPr/>
        </p:nvSpPr>
        <p:spPr>
          <a:xfrm>
            <a:off x="6636700" y="2235225"/>
            <a:ext cx="1791600" cy="10404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Increased input devices size to decrease input offset</a:t>
            </a:r>
            <a:endParaRPr>
              <a:solidFill>
                <a:schemeClr val="dk1"/>
              </a:solidFill>
            </a:endParaRPr>
          </a:p>
        </p:txBody>
      </p:sp>
      <p:cxnSp>
        <p:nvCxnSpPr>
          <p:cNvPr id="108" name="Google Shape;108;p20"/>
          <p:cNvCxnSpPr/>
          <p:nvPr/>
        </p:nvCxnSpPr>
        <p:spPr>
          <a:xfrm flipH="1" rot="10800000">
            <a:off x="6128125" y="2917275"/>
            <a:ext cx="497100" cy="358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type="title"/>
          </p:nvPr>
        </p:nvSpPr>
        <p:spPr>
          <a:xfrm>
            <a:off x="717975" y="6723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Corner Setup</a:t>
            </a:r>
            <a:endParaRPr/>
          </a:p>
        </p:txBody>
      </p:sp>
      <p:graphicFrame>
        <p:nvGraphicFramePr>
          <p:cNvPr id="114" name="Google Shape;114;p21"/>
          <p:cNvGraphicFramePr/>
          <p:nvPr/>
        </p:nvGraphicFramePr>
        <p:xfrm>
          <a:off x="792500" y="196221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{FC90D945-1502-4084-A44A-5EAF143F3D56}</a:tableStyleId>
              </a:tblPr>
              <a:tblGrid>
                <a:gridCol w="3619500"/>
                <a:gridCol w="3619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Temperature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-40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℃</a:t>
                      </a:r>
                      <a:r>
                        <a:rPr lang="en"/>
                        <a:t> 27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℃</a:t>
                      </a:r>
                      <a:r>
                        <a:rPr lang="en"/>
                        <a:t> 125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℃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Supply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2.25V, 2.5V, 2.75V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Process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tt,ss,ff,sf,fs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DC</a:t>
            </a:r>
            <a:endParaRPr/>
          </a:p>
        </p:txBody>
      </p:sp>
      <p:pic>
        <p:nvPicPr>
          <p:cNvPr id="120" name="Google Shape;12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463" y="1017725"/>
            <a:ext cx="7929073" cy="3545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 txBox="1"/>
          <p:nvPr>
            <p:ph type="title"/>
          </p:nvPr>
        </p:nvSpPr>
        <p:spPr>
          <a:xfrm>
            <a:off x="450400" y="3409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DC (</a:t>
            </a:r>
            <a:r>
              <a:rPr lang="en" sz="2750"/>
              <a:t>ICMR-)</a:t>
            </a:r>
            <a:endParaRPr sz="27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6" name="Google Shape;12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1113" y="1488500"/>
            <a:ext cx="5881775" cy="248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/>
          <p:nvPr>
            <p:ph type="title"/>
          </p:nvPr>
        </p:nvSpPr>
        <p:spPr>
          <a:xfrm>
            <a:off x="450400" y="3756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DC (</a:t>
            </a:r>
            <a:r>
              <a:rPr lang="en" sz="2750"/>
              <a:t>ICMR+)</a:t>
            </a:r>
            <a:endParaRPr sz="27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2" name="Google Shape;13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5450" y="1220175"/>
            <a:ext cx="6093100" cy="2586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Stability </a:t>
            </a:r>
            <a:endParaRPr/>
          </a:p>
        </p:txBody>
      </p:sp>
      <p:pic>
        <p:nvPicPr>
          <p:cNvPr id="138" name="Google Shape;138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912" y="1144850"/>
            <a:ext cx="7880170" cy="3418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/>
          <p:nvPr>
            <p:ph type="title"/>
          </p:nvPr>
        </p:nvSpPr>
        <p:spPr>
          <a:xfrm>
            <a:off x="623400" y="202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Stability </a:t>
            </a:r>
            <a:r>
              <a:rPr lang="en"/>
              <a:t>(</a:t>
            </a:r>
            <a:r>
              <a:rPr lang="en" sz="2750"/>
              <a:t>ICMR-)</a:t>
            </a:r>
            <a:endParaRPr sz="27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4" name="Google Shape;14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9375" y="927375"/>
            <a:ext cx="7305251" cy="3147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57525" y="4075050"/>
            <a:ext cx="6623775" cy="695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623400" y="202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Stability (</a:t>
            </a:r>
            <a:r>
              <a:rPr lang="en" sz="2750"/>
              <a:t>ICMR+)</a:t>
            </a:r>
            <a:endParaRPr sz="27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1" name="Google Shape;15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925" y="927375"/>
            <a:ext cx="7296999" cy="3271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7"/>
          <p:cNvPicPr preferRelativeResize="0"/>
          <p:nvPr/>
        </p:nvPicPr>
        <p:blipFill rotWithShape="1">
          <a:blip r:embed="rId4">
            <a:alphaModFix/>
          </a:blip>
          <a:srcRect b="0" l="0" r="882" t="0"/>
          <a:stretch/>
        </p:blipFill>
        <p:spPr>
          <a:xfrm>
            <a:off x="1806475" y="4199275"/>
            <a:ext cx="5507075" cy="639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 txBox="1"/>
          <p:nvPr>
            <p:ph type="title"/>
          </p:nvPr>
        </p:nvSpPr>
        <p:spPr>
          <a:xfrm>
            <a:off x="311700" y="2369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PSRR</a:t>
            </a:r>
            <a:endParaRPr/>
          </a:p>
        </p:txBody>
      </p:sp>
      <p:pic>
        <p:nvPicPr>
          <p:cNvPr id="158" name="Google Shape;15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5450" y="962075"/>
            <a:ext cx="7333099" cy="3378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9"/>
          <p:cNvSpPr txBox="1"/>
          <p:nvPr>
            <p:ph type="title"/>
          </p:nvPr>
        </p:nvSpPr>
        <p:spPr>
          <a:xfrm>
            <a:off x="762475" y="387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PSRR </a:t>
            </a:r>
            <a:r>
              <a:rPr lang="en"/>
              <a:t>(</a:t>
            </a:r>
            <a:r>
              <a:rPr lang="en" sz="2750"/>
              <a:t>ICMR</a:t>
            </a:r>
            <a:r>
              <a:rPr baseline="30000" lang="en" sz="2750"/>
              <a:t>-</a:t>
            </a:r>
            <a:r>
              <a:rPr lang="en" sz="2750"/>
              <a:t>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9"/>
          <p:cNvSpPr txBox="1"/>
          <p:nvPr/>
        </p:nvSpPr>
        <p:spPr>
          <a:xfrm>
            <a:off x="892150" y="929125"/>
            <a:ext cx="21384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65" name="Google Shape;16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1513" y="1184650"/>
            <a:ext cx="7260975" cy="2774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05375" y="3958850"/>
            <a:ext cx="6355625" cy="77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0"/>
          <p:cNvSpPr txBox="1"/>
          <p:nvPr>
            <p:ph type="title"/>
          </p:nvPr>
        </p:nvSpPr>
        <p:spPr>
          <a:xfrm>
            <a:off x="745625" y="269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PSRR </a:t>
            </a:r>
            <a:r>
              <a:rPr lang="en"/>
              <a:t>(</a:t>
            </a:r>
            <a:r>
              <a:rPr lang="en" sz="2750"/>
              <a:t>ICMR</a:t>
            </a:r>
            <a:r>
              <a:rPr baseline="30000" lang="en" sz="2750"/>
              <a:t>+</a:t>
            </a:r>
            <a:r>
              <a:rPr lang="en" sz="2750"/>
              <a:t>)</a:t>
            </a:r>
            <a:endParaRPr/>
          </a:p>
        </p:txBody>
      </p:sp>
      <p:sp>
        <p:nvSpPr>
          <p:cNvPr id="172" name="Google Shape;172;p30"/>
          <p:cNvSpPr txBox="1"/>
          <p:nvPr/>
        </p:nvSpPr>
        <p:spPr>
          <a:xfrm>
            <a:off x="892150" y="929125"/>
            <a:ext cx="21384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73" name="Google Shape;17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9913" y="1137925"/>
            <a:ext cx="7304176" cy="279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82400" y="3928000"/>
            <a:ext cx="6170176" cy="831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Mismatch</a:t>
            </a:r>
            <a:endParaRPr/>
          </a:p>
        </p:txBody>
      </p:sp>
      <p:pic>
        <p:nvPicPr>
          <p:cNvPr id="180" name="Google Shape;18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5574" y="1158575"/>
            <a:ext cx="7212851" cy="329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2"/>
          <p:cNvSpPr txBox="1"/>
          <p:nvPr>
            <p:ph type="title"/>
          </p:nvPr>
        </p:nvSpPr>
        <p:spPr>
          <a:xfrm>
            <a:off x="479825" y="27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Mismatch Monte Carlo </a:t>
            </a:r>
            <a:endParaRPr/>
          </a:p>
        </p:txBody>
      </p:sp>
      <p:sp>
        <p:nvSpPr>
          <p:cNvPr id="186" name="Google Shape;186;p32"/>
          <p:cNvSpPr txBox="1"/>
          <p:nvPr/>
        </p:nvSpPr>
        <p:spPr>
          <a:xfrm>
            <a:off x="942600" y="4283725"/>
            <a:ext cx="7258800" cy="7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The simulation is done at 1V reference voltage to positive terminal of its input, </a:t>
            </a:r>
            <a:r>
              <a:rPr lang="en">
                <a:solidFill>
                  <a:schemeClr val="dk1"/>
                </a:solidFill>
              </a:rPr>
              <a:t>negative</a:t>
            </a:r>
            <a:r>
              <a:rPr lang="en">
                <a:solidFill>
                  <a:schemeClr val="dk1"/>
                </a:solidFill>
              </a:rPr>
              <a:t> terminal is varying from 1.004V to 1.015V from the </a:t>
            </a:r>
            <a:r>
              <a:rPr lang="en">
                <a:solidFill>
                  <a:schemeClr val="dk1"/>
                </a:solidFill>
              </a:rPr>
              <a:t>output</a:t>
            </a:r>
            <a:r>
              <a:rPr lang="en">
                <a:solidFill>
                  <a:schemeClr val="dk1"/>
                </a:solidFill>
              </a:rPr>
              <a:t> and the standard deviation here is 4.454mV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87" name="Google Shape;187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6626" y="996725"/>
            <a:ext cx="7423201" cy="313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3"/>
          <p:cNvSpPr txBox="1"/>
          <p:nvPr>
            <p:ph type="ctrTitle"/>
          </p:nvPr>
        </p:nvSpPr>
        <p:spPr>
          <a:xfrm>
            <a:off x="311708" y="105102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of 2 Stage Op-amp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4"/>
          <p:cNvSpPr txBox="1"/>
          <p:nvPr>
            <p:ph type="title"/>
          </p:nvPr>
        </p:nvSpPr>
        <p:spPr>
          <a:xfrm>
            <a:off x="700375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Specifications</a:t>
            </a:r>
            <a:endParaRPr/>
          </a:p>
        </p:txBody>
      </p:sp>
      <p:sp>
        <p:nvSpPr>
          <p:cNvPr id="198" name="Google Shape;198;p34"/>
          <p:cNvSpPr txBox="1"/>
          <p:nvPr>
            <p:ph idx="1" type="body"/>
          </p:nvPr>
        </p:nvSpPr>
        <p:spPr>
          <a:xfrm>
            <a:off x="804025" y="1087700"/>
            <a:ext cx="5075700" cy="26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Gain : &gt;30dB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Gain Bandwidth Product (GBW) : 5 MHz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Slew Rate : 5V/µs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Load Capacitance (CL) : 2pF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ICMR : 1V to 1.8V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Phase Margin (PM) : &gt;60</a:t>
            </a:r>
            <a:r>
              <a:rPr lang="en" sz="1400">
                <a:solidFill>
                  <a:schemeClr val="dk1"/>
                </a:solidFill>
                <a:highlight>
                  <a:srgbClr val="FFFFFF"/>
                </a:highlight>
              </a:rPr>
              <a:t>°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VDD : 2.5V</a:t>
            </a:r>
            <a:endParaRPr sz="1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5"/>
          <p:cNvSpPr txBox="1"/>
          <p:nvPr>
            <p:ph type="title"/>
          </p:nvPr>
        </p:nvSpPr>
        <p:spPr>
          <a:xfrm>
            <a:off x="404175" y="283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Circuit - 2 Stage Op-Amp</a:t>
            </a:r>
            <a:endParaRPr/>
          </a:p>
        </p:txBody>
      </p:sp>
      <p:pic>
        <p:nvPicPr>
          <p:cNvPr id="204" name="Google Shape;20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9825" y="1107700"/>
            <a:ext cx="5084352" cy="39828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6"/>
          <p:cNvSpPr txBox="1"/>
          <p:nvPr>
            <p:ph type="title"/>
          </p:nvPr>
        </p:nvSpPr>
        <p:spPr>
          <a:xfrm>
            <a:off x="623400" y="287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6</a:t>
            </a:r>
            <a:r>
              <a:rPr lang="en"/>
              <a:t> and M</a:t>
            </a:r>
            <a:r>
              <a:rPr baseline="-25000" lang="en"/>
              <a:t>7</a:t>
            </a:r>
            <a:endParaRPr baseline="-25000"/>
          </a:p>
        </p:txBody>
      </p:sp>
      <p:sp>
        <p:nvSpPr>
          <p:cNvPr id="210" name="Google Shape;210;p36"/>
          <p:cNvSpPr txBox="1"/>
          <p:nvPr/>
        </p:nvSpPr>
        <p:spPr>
          <a:xfrm>
            <a:off x="789925" y="922750"/>
            <a:ext cx="7791600" cy="39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To increase the Current and Gm in the second stage we are making </a:t>
            </a:r>
            <a:endParaRPr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(w/l) of M</a:t>
            </a:r>
            <a:r>
              <a:rPr baseline="-25000" lang="en">
                <a:solidFill>
                  <a:schemeClr val="dk1"/>
                </a:solidFill>
              </a:rPr>
              <a:t>6</a:t>
            </a:r>
            <a:r>
              <a:rPr lang="en">
                <a:solidFill>
                  <a:schemeClr val="dk1"/>
                </a:solidFill>
              </a:rPr>
              <a:t>= 4x(w/l) of M</a:t>
            </a:r>
            <a:r>
              <a:rPr baseline="-25000" lang="en">
                <a:solidFill>
                  <a:schemeClr val="dk1"/>
                </a:solidFill>
              </a:rPr>
              <a:t>4</a:t>
            </a:r>
            <a:endParaRPr baseline="-250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(w/l) of M</a:t>
            </a:r>
            <a:r>
              <a:rPr baseline="-25000" lang="en">
                <a:solidFill>
                  <a:schemeClr val="dk1"/>
                </a:solidFill>
              </a:rPr>
              <a:t>7</a:t>
            </a:r>
            <a:r>
              <a:rPr lang="en">
                <a:solidFill>
                  <a:schemeClr val="dk1"/>
                </a:solidFill>
              </a:rPr>
              <a:t>= 4x(w/l) of M</a:t>
            </a:r>
            <a:r>
              <a:rPr baseline="-25000" lang="en">
                <a:solidFill>
                  <a:schemeClr val="dk1"/>
                </a:solidFill>
              </a:rPr>
              <a:t>5</a:t>
            </a:r>
            <a:endParaRPr baseline="-250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So multipliers of (w/l) of M</a:t>
            </a:r>
            <a:r>
              <a:rPr baseline="-25000" lang="en">
                <a:solidFill>
                  <a:schemeClr val="dk1"/>
                </a:solidFill>
              </a:rPr>
              <a:t>6</a:t>
            </a:r>
            <a:r>
              <a:rPr lang="en">
                <a:solidFill>
                  <a:schemeClr val="dk1"/>
                </a:solidFill>
              </a:rPr>
              <a:t> and (w/l) of M</a:t>
            </a:r>
            <a:r>
              <a:rPr baseline="-25000" lang="en">
                <a:solidFill>
                  <a:schemeClr val="dk1"/>
                </a:solidFill>
              </a:rPr>
              <a:t>7</a:t>
            </a:r>
            <a:r>
              <a:rPr lang="en">
                <a:solidFill>
                  <a:schemeClr val="dk1"/>
                </a:solidFill>
              </a:rPr>
              <a:t> are increased to 4 by maintaining Length and Number of Fingers same in ADE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highlight>
                  <a:srgbClr val="FF9900"/>
                </a:highlight>
              </a:rPr>
              <a:t>Note : (w/l) of M</a:t>
            </a:r>
            <a:r>
              <a:rPr baseline="-25000" lang="en">
                <a:solidFill>
                  <a:schemeClr val="dk1"/>
                </a:solidFill>
                <a:highlight>
                  <a:srgbClr val="FF9900"/>
                </a:highlight>
              </a:rPr>
              <a:t>4</a:t>
            </a:r>
            <a:r>
              <a:rPr lang="en">
                <a:solidFill>
                  <a:schemeClr val="dk1"/>
                </a:solidFill>
                <a:highlight>
                  <a:srgbClr val="FF9900"/>
                </a:highlight>
              </a:rPr>
              <a:t> to M</a:t>
            </a:r>
            <a:r>
              <a:rPr baseline="-25000" lang="en">
                <a:solidFill>
                  <a:schemeClr val="dk1"/>
                </a:solidFill>
                <a:highlight>
                  <a:srgbClr val="FF9900"/>
                </a:highlight>
              </a:rPr>
              <a:t>6</a:t>
            </a:r>
            <a:r>
              <a:rPr lang="en">
                <a:solidFill>
                  <a:schemeClr val="dk1"/>
                </a:solidFill>
                <a:highlight>
                  <a:srgbClr val="FF9900"/>
                </a:highlight>
              </a:rPr>
              <a:t> has changed from 4µ/500n to 8µ/1µ</a:t>
            </a:r>
            <a:endParaRPr>
              <a:solidFill>
                <a:schemeClr val="dk1"/>
              </a:solidFill>
              <a:highlight>
                <a:srgbClr val="FF9900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highlight>
                  <a:schemeClr val="lt1"/>
                </a:highlight>
              </a:rPr>
              <a:t>Calculation of CC</a:t>
            </a:r>
            <a:endParaRPr b="1" baseline="-25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Generally C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 should be greater than 0.22CL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	The given C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L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 is 10pF, that means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	C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&gt;0.22C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L</a:t>
            </a:r>
            <a:endParaRPr baseline="-25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	C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&gt;0.22C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L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=0.22*2pF=440fF 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But in simulation since the I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ss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 is taken from 5T OTA Design the C</a:t>
            </a:r>
            <a:r>
              <a:rPr baseline="-25000" lang="en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 was adjusted to 5pF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Miller Compensation</a:t>
            </a:r>
            <a:endParaRPr/>
          </a:p>
        </p:txBody>
      </p:sp>
      <p:pic>
        <p:nvPicPr>
          <p:cNvPr id="216" name="Google Shape;216;p37"/>
          <p:cNvPicPr preferRelativeResize="0"/>
          <p:nvPr/>
        </p:nvPicPr>
        <p:blipFill rotWithShape="1">
          <a:blip r:embed="rId3">
            <a:alphaModFix/>
          </a:blip>
          <a:srcRect b="0" l="0" r="0" t="43224"/>
          <a:stretch/>
        </p:blipFill>
        <p:spPr>
          <a:xfrm>
            <a:off x="3677825" y="3085150"/>
            <a:ext cx="4298376" cy="1126775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37"/>
          <p:cNvSpPr txBox="1"/>
          <p:nvPr/>
        </p:nvSpPr>
        <p:spPr>
          <a:xfrm>
            <a:off x="480400" y="1176150"/>
            <a:ext cx="7495800" cy="3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The compensation capacitor (C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) 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is connected between the output of the first stage and the output of the second stage.</a:t>
            </a:r>
            <a:endParaRPr sz="12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Due to the Miller effect, the effective capacitance at the first-stage output node increases.</a:t>
            </a:r>
            <a:endParaRPr sz="12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This creates pole splitting, separating the dominant pole from the higher-frequency pole.</a:t>
            </a:r>
            <a:endParaRPr sz="12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Pole splitting improves the stability and phase margin of the two-stage op-amp.</a:t>
            </a:r>
            <a:endParaRPr sz="12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Miller Approximation:</a:t>
            </a:r>
            <a:endParaRPr sz="12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	C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in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 = C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(1-A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V2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) </a:t>
            </a:r>
            <a:r>
              <a:rPr lang="en">
                <a:solidFill>
                  <a:schemeClr val="dk1"/>
                </a:solidFill>
              </a:rPr>
              <a:t>≈ 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(1+|A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V2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|) 		 (at node 1)</a:t>
            </a:r>
            <a:endParaRPr sz="12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out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 = C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(1-(1/A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V2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)) </a:t>
            </a:r>
            <a:r>
              <a:rPr lang="en">
                <a:solidFill>
                  <a:schemeClr val="dk1"/>
                </a:solidFill>
              </a:rPr>
              <a:t>≈ 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C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(1+(1/(|A</a:t>
            </a:r>
            <a:r>
              <a:rPr baseline="-25000" lang="en" sz="1200">
                <a:solidFill>
                  <a:schemeClr val="dk1"/>
                </a:solidFill>
                <a:highlight>
                  <a:schemeClr val="lt1"/>
                </a:highlight>
              </a:rPr>
              <a:t>V2</a:t>
            </a: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</a:rPr>
              <a:t>|))  	 (at node 2)</a:t>
            </a:r>
            <a:endParaRPr sz="12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8"/>
          <p:cNvSpPr txBox="1"/>
          <p:nvPr>
            <p:ph type="title"/>
          </p:nvPr>
        </p:nvSpPr>
        <p:spPr>
          <a:xfrm>
            <a:off x="623400" y="260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</a:t>
            </a:r>
            <a:endParaRPr/>
          </a:p>
        </p:txBody>
      </p:sp>
      <p:pic>
        <p:nvPicPr>
          <p:cNvPr id="223" name="Google Shape;22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7350" y="832775"/>
            <a:ext cx="7189301" cy="378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8"/>
          <p:cNvSpPr txBox="1"/>
          <p:nvPr/>
        </p:nvSpPr>
        <p:spPr>
          <a:xfrm>
            <a:off x="2426800" y="1780750"/>
            <a:ext cx="10518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Inverter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225" name="Google Shape;225;p38"/>
          <p:cNvSpPr txBox="1"/>
          <p:nvPr/>
        </p:nvSpPr>
        <p:spPr>
          <a:xfrm>
            <a:off x="1220850" y="3241800"/>
            <a:ext cx="10518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FFFFFF"/>
                </a:solidFill>
              </a:rPr>
              <a:t>Transmission Gate</a:t>
            </a:r>
            <a:endParaRPr sz="800">
              <a:solidFill>
                <a:srgbClr val="FFFFFF"/>
              </a:solidFill>
            </a:endParaRPr>
          </a:p>
        </p:txBody>
      </p:sp>
      <p:sp>
        <p:nvSpPr>
          <p:cNvPr id="226" name="Google Shape;226;p38"/>
          <p:cNvSpPr txBox="1"/>
          <p:nvPr/>
        </p:nvSpPr>
        <p:spPr>
          <a:xfrm>
            <a:off x="2494225" y="4241000"/>
            <a:ext cx="13998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Switch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27" name="Google Shape;227;p38"/>
          <p:cNvSpPr txBox="1"/>
          <p:nvPr/>
        </p:nvSpPr>
        <p:spPr>
          <a:xfrm>
            <a:off x="3763625" y="2004550"/>
            <a:ext cx="13998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Switch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28" name="Google Shape;228;p38"/>
          <p:cNvSpPr txBox="1"/>
          <p:nvPr/>
        </p:nvSpPr>
        <p:spPr>
          <a:xfrm>
            <a:off x="7048475" y="3626125"/>
            <a:ext cx="13998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Switch</a:t>
            </a:r>
            <a:endParaRPr sz="1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/>
              <a:t>Power-Down &amp; Enable Control in Two-Stage Op-Amp</a:t>
            </a:r>
            <a:endParaRPr b="1" sz="2500"/>
          </a:p>
        </p:txBody>
      </p:sp>
      <p:sp>
        <p:nvSpPr>
          <p:cNvPr id="234" name="Google Shape;234;p39"/>
          <p:cNvSpPr txBox="1"/>
          <p:nvPr>
            <p:ph idx="1" type="body"/>
          </p:nvPr>
        </p:nvSpPr>
        <p:spPr>
          <a:xfrm>
            <a:off x="935650" y="1152475"/>
            <a:ext cx="7131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 sz="1400">
                <a:solidFill>
                  <a:schemeClr val="dk1"/>
                </a:solidFill>
              </a:rPr>
              <a:t>Inverter (Control Signal Generation):</a:t>
            </a:r>
            <a:r>
              <a:rPr lang="en" sz="1400">
                <a:solidFill>
                  <a:schemeClr val="dk1"/>
                </a:solidFill>
              </a:rPr>
              <a:t> Generates complementary control signals from a single active-high digital enable pin (en → enb), synchronizing all NMOS and PMOS switches simultaneously.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 sz="1400">
                <a:solidFill>
                  <a:schemeClr val="dk1"/>
                </a:solidFill>
              </a:rPr>
              <a:t>Transmission Gate (Bias Isolation):</a:t>
            </a:r>
            <a:r>
              <a:rPr lang="en" sz="1400">
                <a:solidFill>
                  <a:schemeClr val="dk1"/>
                </a:solidFill>
              </a:rPr>
              <a:t> Placed in series with the input bias line (Ibias​) to disconnect external current feed during sleep mode without causing threshold voltage drops (Vth​).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 sz="1400">
                <a:solidFill>
                  <a:schemeClr val="dk1"/>
                </a:solidFill>
              </a:rPr>
              <a:t>Node Clamp/Pull Switches:</a:t>
            </a:r>
            <a:r>
              <a:rPr lang="en" sz="1400">
                <a:solidFill>
                  <a:schemeClr val="dk1"/>
                </a:solidFill>
              </a:rPr>
              <a:t> During power-down (enb = High), the 3 shunt switches turn ON to pull NMOS gates to GND, PMOS gates to VDD​, and the output to GND, completely shutting off all current paths (Vgs​=0 V) and preventing floating nodes.</a:t>
            </a:r>
            <a:endParaRPr sz="1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0"/>
          <p:cNvSpPr txBox="1"/>
          <p:nvPr>
            <p:ph type="title"/>
          </p:nvPr>
        </p:nvSpPr>
        <p:spPr>
          <a:xfrm>
            <a:off x="820275" y="2947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50"/>
              <a:t>Sizes  of Components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40" name="Google Shape;240;p40"/>
          <p:cNvGraphicFramePr/>
          <p:nvPr/>
        </p:nvGraphicFramePr>
        <p:xfrm>
          <a:off x="1017575" y="17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{FC90D945-1502-4084-A44A-5EAF143F3D56}</a:tableStyleId>
              </a:tblPr>
              <a:tblGrid>
                <a:gridCol w="2169750"/>
                <a:gridCol w="2159400"/>
                <a:gridCol w="2159400"/>
              </a:tblGrid>
              <a:tr h="5764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Transistor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Size from Calculation in (W/L)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Size adjustment in the Simulation 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in (W/L)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374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</a:t>
                      </a:r>
                      <a:r>
                        <a:rPr baseline="-25000" lang="en" sz="1200"/>
                        <a:t>1</a:t>
                      </a:r>
                      <a:r>
                        <a:rPr lang="en" sz="1200"/>
                        <a:t> and M</a:t>
                      </a:r>
                      <a:r>
                        <a:rPr baseline="-25000" lang="en" sz="1200"/>
                        <a:t>2</a:t>
                      </a:r>
                      <a:endParaRPr baseline="-25000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8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µ</a:t>
                      </a:r>
                      <a:r>
                        <a:rPr lang="en" sz="1200"/>
                        <a:t>/500n, nf = 2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374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</a:t>
                      </a:r>
                      <a:r>
                        <a:rPr baseline="-25000" lang="en" sz="1200"/>
                        <a:t>3</a:t>
                      </a:r>
                      <a:r>
                        <a:rPr lang="en" sz="1200"/>
                        <a:t> and M</a:t>
                      </a:r>
                      <a:r>
                        <a:rPr baseline="-25000" lang="en" sz="1200"/>
                        <a:t>4</a:t>
                      </a:r>
                      <a:endParaRPr baseline="-25000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µ</a:t>
                      </a:r>
                      <a:r>
                        <a:rPr lang="en" sz="1200"/>
                        <a:t>/1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µ</a:t>
                      </a:r>
                      <a:r>
                        <a:rPr lang="en" sz="1200"/>
                        <a:t>, nf = 2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374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</a:t>
                      </a:r>
                      <a:r>
                        <a:rPr baseline="-25000" lang="en" sz="1200"/>
                        <a:t>5</a:t>
                      </a:r>
                      <a:r>
                        <a:rPr lang="en" sz="1200"/>
                        <a:t> and M</a:t>
                      </a:r>
                      <a:r>
                        <a:rPr baseline="-25000" lang="en" sz="1200"/>
                        <a:t>0</a:t>
                      </a:r>
                      <a:endParaRPr baseline="-25000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40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5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µ</a:t>
                      </a:r>
                      <a:r>
                        <a:rPr lang="en" sz="1200"/>
                        <a:t>/1.4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µ</a:t>
                      </a:r>
                      <a:r>
                        <a:rPr lang="en" sz="1200"/>
                        <a:t>, nf = 10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374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</a:t>
                      </a:r>
                      <a:r>
                        <a:rPr baseline="-25000" lang="en" sz="1200"/>
                        <a:t>6</a:t>
                      </a:r>
                      <a:endParaRPr baseline="-25000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32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8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µ</a:t>
                      </a:r>
                      <a:r>
                        <a:rPr lang="en" sz="1200"/>
                        <a:t>/1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µ</a:t>
                      </a:r>
                      <a:r>
                        <a:rPr lang="en" sz="1200"/>
                        <a:t>, nf = 2, m= 4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374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</a:t>
                      </a:r>
                      <a:r>
                        <a:rPr baseline="-25000" lang="en" sz="1200"/>
                        <a:t>7</a:t>
                      </a:r>
                      <a:endParaRPr baseline="-25000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160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5µ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/1.4µ, nf = 10, m= 4</a:t>
                      </a:r>
                      <a:endParaRPr sz="12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41" name="Google Shape;241;p40"/>
          <p:cNvSpPr txBox="1"/>
          <p:nvPr/>
        </p:nvSpPr>
        <p:spPr>
          <a:xfrm>
            <a:off x="903700" y="1070625"/>
            <a:ext cx="6832200" cy="7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Sizes of components from calculations has adjusted to get results according to the specifications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1"/>
          <p:cNvSpPr txBox="1"/>
          <p:nvPr>
            <p:ph type="title"/>
          </p:nvPr>
        </p:nvSpPr>
        <p:spPr>
          <a:xfrm>
            <a:off x="693125" y="3410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Corner Setup</a:t>
            </a:r>
            <a:endParaRPr/>
          </a:p>
        </p:txBody>
      </p:sp>
      <p:graphicFrame>
        <p:nvGraphicFramePr>
          <p:cNvPr id="247" name="Google Shape;247;p41"/>
          <p:cNvGraphicFramePr/>
          <p:nvPr/>
        </p:nvGraphicFramePr>
        <p:xfrm>
          <a:off x="693125" y="2307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{FC90D945-1502-4084-A44A-5EAF143F3D56}</a:tableStyleId>
              </a:tblPr>
              <a:tblGrid>
                <a:gridCol w="3619500"/>
                <a:gridCol w="3619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Temperature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-40</a:t>
                      </a:r>
                      <a:r>
                        <a:rPr lang="en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°C</a:t>
                      </a:r>
                      <a:r>
                        <a:rPr lang="en"/>
                        <a:t> 27</a:t>
                      </a:r>
                      <a:r>
                        <a:rPr lang="en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°C</a:t>
                      </a:r>
                      <a:r>
                        <a:rPr lang="en"/>
                        <a:t> 125</a:t>
                      </a:r>
                      <a:r>
                        <a:rPr lang="en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°C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Supply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2.25V 2.5V 2.75V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Process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tt,ss,ff,sf,fs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DC</a:t>
            </a:r>
            <a:endParaRPr/>
          </a:p>
        </p:txBody>
      </p:sp>
      <p:pic>
        <p:nvPicPr>
          <p:cNvPr id="253" name="Google Shape;25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0987" y="1203175"/>
            <a:ext cx="7282024" cy="290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3"/>
          <p:cNvSpPr txBox="1"/>
          <p:nvPr>
            <p:ph type="title"/>
          </p:nvPr>
        </p:nvSpPr>
        <p:spPr>
          <a:xfrm>
            <a:off x="450400" y="3409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DC (</a:t>
            </a:r>
            <a:r>
              <a:rPr lang="en" sz="2750"/>
              <a:t>ICMR</a:t>
            </a:r>
            <a:r>
              <a:rPr baseline="30000" lang="en" sz="2750"/>
              <a:t>-</a:t>
            </a:r>
            <a:r>
              <a:rPr lang="en" sz="2750"/>
              <a:t>)</a:t>
            </a:r>
            <a:endParaRPr sz="27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59" name="Google Shape;259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6800" y="1059525"/>
            <a:ext cx="6970400" cy="3421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4"/>
          <p:cNvSpPr txBox="1"/>
          <p:nvPr>
            <p:ph type="title"/>
          </p:nvPr>
        </p:nvSpPr>
        <p:spPr>
          <a:xfrm>
            <a:off x="458675" y="3011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DC (</a:t>
            </a:r>
            <a:r>
              <a:rPr lang="en" sz="2750"/>
              <a:t>ICMR</a:t>
            </a:r>
            <a:r>
              <a:rPr baseline="30000" lang="en" sz="2750"/>
              <a:t>+</a:t>
            </a:r>
            <a:r>
              <a:rPr lang="en" sz="2750"/>
              <a:t>)</a:t>
            </a:r>
            <a:endParaRPr sz="27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5" name="Google Shape;26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475" y="991525"/>
            <a:ext cx="7213126" cy="353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AC (PSRR) (Closed loop)</a:t>
            </a:r>
            <a:endParaRPr/>
          </a:p>
        </p:txBody>
      </p:sp>
      <p:pic>
        <p:nvPicPr>
          <p:cNvPr id="271" name="Google Shape;271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4663" y="951450"/>
            <a:ext cx="6854674" cy="3541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6"/>
          <p:cNvSpPr txBox="1"/>
          <p:nvPr>
            <p:ph type="title"/>
          </p:nvPr>
        </p:nvSpPr>
        <p:spPr>
          <a:xfrm>
            <a:off x="369675" y="27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PSRR (ICMR</a:t>
            </a:r>
            <a:r>
              <a:rPr baseline="30000" lang="en"/>
              <a:t>-</a:t>
            </a:r>
            <a:r>
              <a:rPr lang="en"/>
              <a:t>)</a:t>
            </a:r>
            <a:endParaRPr/>
          </a:p>
        </p:txBody>
      </p:sp>
      <p:sp>
        <p:nvSpPr>
          <p:cNvPr id="277" name="Google Shape;277;p46"/>
          <p:cNvSpPr txBox="1"/>
          <p:nvPr/>
        </p:nvSpPr>
        <p:spPr>
          <a:xfrm>
            <a:off x="892150" y="929125"/>
            <a:ext cx="21384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78" name="Google Shape;278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9975" y="993926"/>
            <a:ext cx="7300626" cy="3033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95600" y="4027325"/>
            <a:ext cx="6169372" cy="811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7"/>
          <p:cNvSpPr txBox="1"/>
          <p:nvPr>
            <p:ph type="title"/>
          </p:nvPr>
        </p:nvSpPr>
        <p:spPr>
          <a:xfrm>
            <a:off x="369675" y="27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PSRR (ICMR</a:t>
            </a:r>
            <a:r>
              <a:rPr baseline="30000" lang="en"/>
              <a:t>+</a:t>
            </a:r>
            <a:r>
              <a:rPr lang="en"/>
              <a:t>)</a:t>
            </a:r>
            <a:endParaRPr/>
          </a:p>
        </p:txBody>
      </p:sp>
      <p:sp>
        <p:nvSpPr>
          <p:cNvPr id="285" name="Google Shape;285;p47"/>
          <p:cNvSpPr txBox="1"/>
          <p:nvPr/>
        </p:nvSpPr>
        <p:spPr>
          <a:xfrm>
            <a:off x="892150" y="929125"/>
            <a:ext cx="21384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86" name="Google Shape;286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00" y="785225"/>
            <a:ext cx="7238999" cy="3386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2437" y="4171800"/>
            <a:ext cx="6539126" cy="8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Stability</a:t>
            </a:r>
            <a:endParaRPr/>
          </a:p>
        </p:txBody>
      </p:sp>
      <p:pic>
        <p:nvPicPr>
          <p:cNvPr id="293" name="Google Shape;293;p48"/>
          <p:cNvPicPr preferRelativeResize="0"/>
          <p:nvPr/>
        </p:nvPicPr>
        <p:blipFill rotWithShape="1">
          <a:blip r:embed="rId3">
            <a:alphaModFix/>
          </a:blip>
          <a:srcRect b="0" l="19184" r="8" t="0"/>
          <a:stretch/>
        </p:blipFill>
        <p:spPr>
          <a:xfrm>
            <a:off x="1325212" y="1225800"/>
            <a:ext cx="6493574" cy="307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9"/>
          <p:cNvSpPr txBox="1"/>
          <p:nvPr>
            <p:ph type="title"/>
          </p:nvPr>
        </p:nvSpPr>
        <p:spPr>
          <a:xfrm>
            <a:off x="623400" y="202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Stability (ICMR</a:t>
            </a:r>
            <a:r>
              <a:rPr baseline="30000" lang="en"/>
              <a:t>-</a:t>
            </a:r>
            <a:r>
              <a:rPr lang="en"/>
              <a:t>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9" name="Google Shape;299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9362" y="927375"/>
            <a:ext cx="7305273" cy="318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38211" y="4112875"/>
            <a:ext cx="4867577" cy="64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0"/>
          <p:cNvSpPr txBox="1"/>
          <p:nvPr>
            <p:ph type="title"/>
          </p:nvPr>
        </p:nvSpPr>
        <p:spPr>
          <a:xfrm>
            <a:off x="623400" y="202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Stability (ICMR</a:t>
            </a:r>
            <a:r>
              <a:rPr baseline="30000" lang="en"/>
              <a:t>+</a:t>
            </a:r>
            <a:r>
              <a:rPr lang="en"/>
              <a:t>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6" name="Google Shape;306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0075" y="886825"/>
            <a:ext cx="7263851" cy="3369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86000" y="4256673"/>
            <a:ext cx="4572000" cy="59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Transient Analysis</a:t>
            </a:r>
            <a:endParaRPr/>
          </a:p>
        </p:txBody>
      </p:sp>
      <p:pic>
        <p:nvPicPr>
          <p:cNvPr id="313" name="Google Shape;313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4313" y="1325125"/>
            <a:ext cx="6195374" cy="300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2"/>
          <p:cNvSpPr txBox="1"/>
          <p:nvPr>
            <p:ph type="title"/>
          </p:nvPr>
        </p:nvSpPr>
        <p:spPr>
          <a:xfrm>
            <a:off x="311700" y="163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Response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9" name="Google Shape;319;p52"/>
          <p:cNvPicPr preferRelativeResize="0"/>
          <p:nvPr/>
        </p:nvPicPr>
        <p:blipFill rotWithShape="1">
          <a:blip r:embed="rId3">
            <a:alphaModFix/>
          </a:blip>
          <a:srcRect b="0" l="1048" r="1019" t="0"/>
          <a:stretch/>
        </p:blipFill>
        <p:spPr>
          <a:xfrm>
            <a:off x="447250" y="777775"/>
            <a:ext cx="8009276" cy="3448325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52"/>
          <p:cNvSpPr txBox="1"/>
          <p:nvPr/>
        </p:nvSpPr>
        <p:spPr>
          <a:xfrm>
            <a:off x="447250" y="4414625"/>
            <a:ext cx="8092200" cy="4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➢"/>
            </a:pPr>
            <a:r>
              <a:rPr lang="en" sz="1500">
                <a:solidFill>
                  <a:schemeClr val="dk1"/>
                </a:solidFill>
              </a:rPr>
              <a:t>Here the input is changing to 2.25V, 2.5V and 2.75V from 0V in 0S to 1uS, where we are not seeing any ringing effect in output</a:t>
            </a:r>
            <a:endParaRPr sz="1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Monte Carlo</a:t>
            </a:r>
            <a:endParaRPr/>
          </a:p>
        </p:txBody>
      </p:sp>
      <p:pic>
        <p:nvPicPr>
          <p:cNvPr id="326" name="Google Shape;326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7350" y="1294350"/>
            <a:ext cx="7189300" cy="321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4"/>
          <p:cNvSpPr txBox="1"/>
          <p:nvPr>
            <p:ph type="title"/>
          </p:nvPr>
        </p:nvSpPr>
        <p:spPr>
          <a:xfrm>
            <a:off x="504675" y="4455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Mismatch Monte Carlo </a:t>
            </a:r>
            <a:endParaRPr/>
          </a:p>
        </p:txBody>
      </p:sp>
      <p:sp>
        <p:nvSpPr>
          <p:cNvPr id="332" name="Google Shape;332;p54"/>
          <p:cNvSpPr txBox="1"/>
          <p:nvPr/>
        </p:nvSpPr>
        <p:spPr>
          <a:xfrm>
            <a:off x="632650" y="4290975"/>
            <a:ext cx="8135700" cy="3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The input is varying from 1.011V to 999.9mV, where the Standard Deviation is 4.477mV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333" name="Google Shape;333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5925" y="1221725"/>
            <a:ext cx="7252124" cy="3018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55"/>
          <p:cNvSpPr txBox="1"/>
          <p:nvPr>
            <p:ph type="title"/>
          </p:nvPr>
        </p:nvSpPr>
        <p:spPr>
          <a:xfrm>
            <a:off x="311700" y="188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LHP zero</a:t>
            </a:r>
            <a:endParaRPr/>
          </a:p>
        </p:txBody>
      </p:sp>
      <p:sp>
        <p:nvSpPr>
          <p:cNvPr id="339" name="Google Shape;339;p55"/>
          <p:cNvSpPr txBox="1"/>
          <p:nvPr/>
        </p:nvSpPr>
        <p:spPr>
          <a:xfrm>
            <a:off x="495500" y="760975"/>
            <a:ext cx="7571700" cy="44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C</a:t>
            </a:r>
            <a:r>
              <a:rPr lang="en" sz="1200">
                <a:solidFill>
                  <a:schemeClr val="dk1"/>
                </a:solidFill>
              </a:rPr>
              <a:t>​ provides feedback from the output to the first-stage output.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Due to the Miller effect, it appears as a large capacitance at the first stage:</a:t>
            </a:r>
            <a:br>
              <a:rPr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Ceff≈C</a:t>
            </a:r>
            <a:r>
              <a:rPr baseline="-25000" lang="en" sz="1200">
                <a:solidFill>
                  <a:schemeClr val="dk1"/>
                </a:solidFill>
              </a:rPr>
              <a:t>C</a:t>
            </a:r>
            <a:r>
              <a:rPr lang="en" sz="1200">
                <a:solidFill>
                  <a:schemeClr val="dk1"/>
                </a:solidFill>
              </a:rPr>
              <a:t>(1+∣A</a:t>
            </a:r>
            <a:r>
              <a:rPr baseline="-25000" lang="en" sz="1200">
                <a:solidFill>
                  <a:schemeClr val="dk1"/>
                </a:solidFill>
              </a:rPr>
              <a:t>2</a:t>
            </a:r>
            <a:r>
              <a:rPr lang="en" sz="1200">
                <a:solidFill>
                  <a:schemeClr val="dk1"/>
                </a:solidFill>
              </a:rPr>
              <a:t>∣)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This creates a low-frequency dominant pole, separating the poles and improving stability.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chemeClr val="dk1"/>
                </a:solidFill>
              </a:rPr>
              <a:t>Why does a zero appear?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C</a:t>
            </a:r>
            <a:r>
              <a:rPr lang="en" sz="1200">
                <a:solidFill>
                  <a:schemeClr val="dk1"/>
                </a:solidFill>
              </a:rPr>
              <a:t> provides a direct feed-forward path from V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 to V</a:t>
            </a:r>
            <a:r>
              <a:rPr baseline="-25000" lang="en" sz="1200">
                <a:solidFill>
                  <a:schemeClr val="dk1"/>
                </a:solidFill>
              </a:rPr>
              <a:t>o</a:t>
            </a:r>
            <a:r>
              <a:rPr lang="en" sz="1200">
                <a:solidFill>
                  <a:schemeClr val="dk1"/>
                </a:solidFill>
              </a:rPr>
              <a:t>, in addition to the normal second-stage path through gm</a:t>
            </a:r>
            <a:r>
              <a:rPr baseline="-25000" lang="en" sz="1200">
                <a:solidFill>
                  <a:schemeClr val="dk1"/>
                </a:solidFill>
              </a:rPr>
              <a:t>2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The interaction of these two paths introduces a zero in the transfer function.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With only C</a:t>
            </a:r>
            <a:r>
              <a:rPr baseline="-25000" lang="en" sz="1200">
                <a:solidFill>
                  <a:schemeClr val="dk1"/>
                </a:solidFill>
              </a:rPr>
              <a:t>C</a:t>
            </a:r>
            <a:r>
              <a:rPr lang="en" sz="1200">
                <a:solidFill>
                  <a:schemeClr val="dk1"/>
                </a:solidFill>
              </a:rPr>
              <a:t> (R</a:t>
            </a:r>
            <a:r>
              <a:rPr baseline="-25000" lang="en" sz="1200">
                <a:solidFill>
                  <a:schemeClr val="dk1"/>
                </a:solidFill>
              </a:rPr>
              <a:t>z</a:t>
            </a:r>
            <a:r>
              <a:rPr lang="en" sz="1200">
                <a:solidFill>
                  <a:schemeClr val="dk1"/>
                </a:solidFill>
              </a:rPr>
              <a:t>=0), this zero is in the </a:t>
            </a:r>
            <a:r>
              <a:rPr b="1" lang="en" sz="1200">
                <a:solidFill>
                  <a:schemeClr val="dk1"/>
                </a:solidFill>
              </a:rPr>
              <a:t>right-half plane (RHP)</a:t>
            </a:r>
            <a:r>
              <a:rPr lang="en" sz="1200">
                <a:solidFill>
                  <a:schemeClr val="dk1"/>
                </a:solidFill>
              </a:rPr>
              <a:t> and adds phase lag, reducing phase margin.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chemeClr val="dk1"/>
                </a:solidFill>
              </a:rPr>
              <a:t>Key idea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Adding R</a:t>
            </a:r>
            <a:r>
              <a:rPr baseline="-25000" lang="en" sz="1200">
                <a:solidFill>
                  <a:schemeClr val="dk1"/>
                </a:solidFill>
              </a:rPr>
              <a:t>z</a:t>
            </a:r>
            <a:r>
              <a:rPr lang="en" sz="1200">
                <a:solidFill>
                  <a:schemeClr val="dk1"/>
                </a:solidFill>
              </a:rPr>
              <a:t> in series with C</a:t>
            </a:r>
            <a:r>
              <a:rPr baseline="-25000" lang="en" sz="1200">
                <a:solidFill>
                  <a:schemeClr val="dk1"/>
                </a:solidFill>
              </a:rPr>
              <a:t>C </a:t>
            </a:r>
            <a:r>
              <a:rPr lang="en" sz="1200">
                <a:solidFill>
                  <a:schemeClr val="dk1"/>
                </a:solidFill>
              </a:rPr>
              <a:t>modifies the feed-forward path.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By choosing R</a:t>
            </a:r>
            <a:r>
              <a:rPr baseline="-25000" lang="en" sz="1200">
                <a:solidFill>
                  <a:schemeClr val="dk1"/>
                </a:solidFill>
              </a:rPr>
              <a:t>z</a:t>
            </a:r>
            <a:r>
              <a:rPr lang="en" sz="1200">
                <a:solidFill>
                  <a:schemeClr val="dk1"/>
                </a:solidFill>
              </a:rPr>
              <a:t> appropriately, the RHP zero can be removed or moved to the </a:t>
            </a:r>
            <a:r>
              <a:rPr b="1" lang="en" sz="1200">
                <a:solidFill>
                  <a:schemeClr val="dk1"/>
                </a:solidFill>
              </a:rPr>
              <a:t>left-half plane (LHP)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The LHP zero provides positive phase lead, which improves phase margin.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40" name="Google Shape;34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6601" y="3095125"/>
            <a:ext cx="2054026" cy="690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6"/>
          <p:cNvSpPr txBox="1"/>
          <p:nvPr>
            <p:ph type="title"/>
          </p:nvPr>
        </p:nvSpPr>
        <p:spPr>
          <a:xfrm>
            <a:off x="311700" y="237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Effect of Rz on Zero Location and Phase</a:t>
            </a:r>
            <a:endParaRPr sz="2500"/>
          </a:p>
        </p:txBody>
      </p:sp>
      <p:pic>
        <p:nvPicPr>
          <p:cNvPr id="346" name="Google Shape;346;p56"/>
          <p:cNvPicPr preferRelativeResize="0"/>
          <p:nvPr/>
        </p:nvPicPr>
        <p:blipFill rotWithShape="1">
          <a:blip r:embed="rId3">
            <a:alphaModFix/>
          </a:blip>
          <a:srcRect b="0" l="0" r="0" t="13927"/>
          <a:stretch/>
        </p:blipFill>
        <p:spPr>
          <a:xfrm>
            <a:off x="409175" y="969050"/>
            <a:ext cx="7157176" cy="3467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 - Adding LHP zero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2" name="Google Shape;352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4625" y="1130175"/>
            <a:ext cx="7230726" cy="3645574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57"/>
          <p:cNvSpPr/>
          <p:nvPr/>
        </p:nvSpPr>
        <p:spPr>
          <a:xfrm>
            <a:off x="5063243" y="2601330"/>
            <a:ext cx="1061975" cy="522925"/>
          </a:xfrm>
          <a:custGeom>
            <a:rect b="b" l="l" r="r" t="t"/>
            <a:pathLst>
              <a:path extrusionOk="0" h="20917" w="42479">
                <a:moveTo>
                  <a:pt x="37334" y="2958"/>
                </a:moveTo>
                <a:cubicBezTo>
                  <a:pt x="26061" y="2958"/>
                  <a:pt x="14006" y="-2557"/>
                  <a:pt x="3541" y="1633"/>
                </a:cubicBezTo>
                <a:cubicBezTo>
                  <a:pt x="-763" y="3356"/>
                  <a:pt x="-202" y="10644"/>
                  <a:pt x="560" y="15217"/>
                </a:cubicBezTo>
                <a:cubicBezTo>
                  <a:pt x="1605" y="21488"/>
                  <a:pt x="12424" y="20849"/>
                  <a:pt x="18781" y="20849"/>
                </a:cubicBezTo>
                <a:cubicBezTo>
                  <a:pt x="26629" y="20849"/>
                  <a:pt x="37602" y="21946"/>
                  <a:pt x="41641" y="15217"/>
                </a:cubicBezTo>
                <a:cubicBezTo>
                  <a:pt x="43516" y="12094"/>
                  <a:pt x="41835" y="6891"/>
                  <a:pt x="38991" y="4615"/>
                </a:cubicBezTo>
                <a:cubicBezTo>
                  <a:pt x="36100" y="2302"/>
                  <a:pt x="31949" y="2318"/>
                  <a:pt x="28389" y="130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54" name="Google Shape;354;p57"/>
          <p:cNvSpPr txBox="1"/>
          <p:nvPr/>
        </p:nvSpPr>
        <p:spPr>
          <a:xfrm>
            <a:off x="2078925" y="2571750"/>
            <a:ext cx="10518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Inverter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355" name="Google Shape;355;p57"/>
          <p:cNvSpPr txBox="1"/>
          <p:nvPr/>
        </p:nvSpPr>
        <p:spPr>
          <a:xfrm>
            <a:off x="1220850" y="3241800"/>
            <a:ext cx="10518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FFFFFF"/>
                </a:solidFill>
              </a:rPr>
              <a:t>Transmission Gate</a:t>
            </a:r>
            <a:endParaRPr sz="800">
              <a:solidFill>
                <a:srgbClr val="FFFFFF"/>
              </a:solidFill>
            </a:endParaRPr>
          </a:p>
        </p:txBody>
      </p:sp>
      <p:sp>
        <p:nvSpPr>
          <p:cNvPr id="356" name="Google Shape;356;p57"/>
          <p:cNvSpPr txBox="1"/>
          <p:nvPr/>
        </p:nvSpPr>
        <p:spPr>
          <a:xfrm>
            <a:off x="2004325" y="4349575"/>
            <a:ext cx="13998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Switch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57" name="Google Shape;357;p57"/>
          <p:cNvSpPr txBox="1"/>
          <p:nvPr/>
        </p:nvSpPr>
        <p:spPr>
          <a:xfrm>
            <a:off x="3208700" y="2178500"/>
            <a:ext cx="13998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Switch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58" name="Google Shape;358;p57"/>
          <p:cNvSpPr txBox="1"/>
          <p:nvPr/>
        </p:nvSpPr>
        <p:spPr>
          <a:xfrm>
            <a:off x="6799975" y="3816575"/>
            <a:ext cx="13998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Switch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59" name="Google Shape;359;p57"/>
          <p:cNvSpPr txBox="1"/>
          <p:nvPr/>
        </p:nvSpPr>
        <p:spPr>
          <a:xfrm>
            <a:off x="5063250" y="3582900"/>
            <a:ext cx="1681200" cy="3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LHP Zero</a:t>
            </a:r>
            <a:endParaRPr sz="1800">
              <a:solidFill>
                <a:srgbClr val="FFFFFF"/>
              </a:solidFill>
            </a:endParaRPr>
          </a:p>
        </p:txBody>
      </p:sp>
      <p:cxnSp>
        <p:nvCxnSpPr>
          <p:cNvPr id="360" name="Google Shape;360;p57"/>
          <p:cNvCxnSpPr/>
          <p:nvPr/>
        </p:nvCxnSpPr>
        <p:spPr>
          <a:xfrm>
            <a:off x="5556425" y="3123800"/>
            <a:ext cx="45000" cy="5295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8"/>
          <p:cNvSpPr txBox="1"/>
          <p:nvPr>
            <p:ph type="title"/>
          </p:nvPr>
        </p:nvSpPr>
        <p:spPr>
          <a:xfrm>
            <a:off x="245425" y="64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Simulation Results</a:t>
            </a:r>
            <a:endParaRPr/>
          </a:p>
        </p:txBody>
      </p:sp>
      <p:sp>
        <p:nvSpPr>
          <p:cNvPr id="366" name="Google Shape;366;p58"/>
          <p:cNvSpPr txBox="1"/>
          <p:nvPr/>
        </p:nvSpPr>
        <p:spPr>
          <a:xfrm>
            <a:off x="695750" y="2054075"/>
            <a:ext cx="8118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</a:rPr>
              <a:t>Rz=0 Ohm</a:t>
            </a:r>
            <a:endParaRPr sz="900">
              <a:solidFill>
                <a:schemeClr val="lt1"/>
              </a:solidFill>
            </a:endParaRPr>
          </a:p>
        </p:txBody>
      </p:sp>
      <p:sp>
        <p:nvSpPr>
          <p:cNvPr id="367" name="Google Shape;367;p58"/>
          <p:cNvSpPr txBox="1"/>
          <p:nvPr/>
        </p:nvSpPr>
        <p:spPr>
          <a:xfrm>
            <a:off x="4782425" y="2198200"/>
            <a:ext cx="8118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</a:rPr>
              <a:t>Rz=1k Ohm</a:t>
            </a:r>
            <a:endParaRPr sz="900">
              <a:solidFill>
                <a:schemeClr val="lt1"/>
              </a:solidFill>
            </a:endParaRPr>
          </a:p>
        </p:txBody>
      </p:sp>
      <p:sp>
        <p:nvSpPr>
          <p:cNvPr id="368" name="Google Shape;368;p58"/>
          <p:cNvSpPr txBox="1"/>
          <p:nvPr/>
        </p:nvSpPr>
        <p:spPr>
          <a:xfrm>
            <a:off x="627825" y="3874600"/>
            <a:ext cx="8118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</a:rPr>
              <a:t>Rz=3k Ohm</a:t>
            </a:r>
            <a:endParaRPr sz="900">
              <a:solidFill>
                <a:schemeClr val="lt1"/>
              </a:solidFill>
            </a:endParaRPr>
          </a:p>
        </p:txBody>
      </p:sp>
      <p:pic>
        <p:nvPicPr>
          <p:cNvPr id="369" name="Google Shape;369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9063" y="980200"/>
            <a:ext cx="7205874" cy="2894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58"/>
          <p:cNvSpPr txBox="1"/>
          <p:nvPr/>
        </p:nvSpPr>
        <p:spPr>
          <a:xfrm>
            <a:off x="1176125" y="2020925"/>
            <a:ext cx="12837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</a:rPr>
              <a:t>R</a:t>
            </a:r>
            <a:r>
              <a:rPr baseline="-25000" lang="en" sz="1800">
                <a:solidFill>
                  <a:schemeClr val="lt1"/>
                </a:solidFill>
              </a:rPr>
              <a:t>z</a:t>
            </a:r>
            <a:r>
              <a:rPr lang="en" sz="1800">
                <a:solidFill>
                  <a:schemeClr val="lt1"/>
                </a:solidFill>
              </a:rPr>
              <a:t> = 0 Ω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371" name="Google Shape;371;p58"/>
          <p:cNvSpPr txBox="1"/>
          <p:nvPr/>
        </p:nvSpPr>
        <p:spPr>
          <a:xfrm>
            <a:off x="4865200" y="2054075"/>
            <a:ext cx="12837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</a:rPr>
              <a:t>R</a:t>
            </a:r>
            <a:r>
              <a:rPr baseline="-25000" lang="en" sz="1800">
                <a:solidFill>
                  <a:schemeClr val="lt1"/>
                </a:solidFill>
              </a:rPr>
              <a:t>z</a:t>
            </a:r>
            <a:r>
              <a:rPr lang="en" sz="1800">
                <a:solidFill>
                  <a:schemeClr val="lt1"/>
                </a:solidFill>
              </a:rPr>
              <a:t> = 1K Ω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372" name="Google Shape;372;p58"/>
          <p:cNvSpPr txBox="1"/>
          <p:nvPr/>
        </p:nvSpPr>
        <p:spPr>
          <a:xfrm>
            <a:off x="1176125" y="3402475"/>
            <a:ext cx="18138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</a:rPr>
              <a:t>R</a:t>
            </a:r>
            <a:r>
              <a:rPr baseline="-25000" lang="en" sz="1800">
                <a:solidFill>
                  <a:schemeClr val="lt1"/>
                </a:solidFill>
              </a:rPr>
              <a:t>z</a:t>
            </a:r>
            <a:r>
              <a:rPr lang="en" sz="1800">
                <a:solidFill>
                  <a:schemeClr val="lt1"/>
                </a:solidFill>
              </a:rPr>
              <a:t> = 2 K Ω</a:t>
            </a:r>
            <a:endParaRPr sz="1800">
              <a:solidFill>
                <a:schemeClr val="lt1"/>
              </a:solidFill>
            </a:endParaRPr>
          </a:p>
        </p:txBody>
      </p:sp>
      <p:graphicFrame>
        <p:nvGraphicFramePr>
          <p:cNvPr id="373" name="Google Shape;373;p58"/>
          <p:cNvGraphicFramePr/>
          <p:nvPr/>
        </p:nvGraphicFramePr>
        <p:xfrm>
          <a:off x="4745875" y="2571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{FC90D945-1502-4084-A44A-5EAF143F3D56}</a:tableStyleId>
              </a:tblPr>
              <a:tblGrid>
                <a:gridCol w="1474350"/>
                <a:gridCol w="1474350"/>
              </a:tblGrid>
              <a:tr h="3257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R</a:t>
                      </a:r>
                      <a:r>
                        <a:rPr b="1" baseline="-25000" lang="en" sz="1200"/>
                        <a:t>z</a:t>
                      </a:r>
                      <a:r>
                        <a:rPr b="1" lang="en" sz="1200"/>
                        <a:t> value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Phase Margin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257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baseline="-25000" lang="en" sz="1200">
                          <a:solidFill>
                            <a:schemeClr val="dk1"/>
                          </a:solidFill>
                        </a:rPr>
                        <a:t>z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 = 0 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Ω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45720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≈ 63</a:t>
                      </a:r>
                      <a:r>
                        <a:rPr lang="en" sz="12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°</a:t>
                      </a:r>
                      <a:endParaRPr sz="12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257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baseline="-25000" lang="en" sz="1200">
                          <a:solidFill>
                            <a:schemeClr val="dk1"/>
                          </a:solidFill>
                        </a:rPr>
                        <a:t>z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 = 1K Ω</a:t>
                      </a:r>
                      <a:endParaRPr sz="12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45720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≈ 81</a:t>
                      </a:r>
                      <a:r>
                        <a:rPr lang="en" sz="12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°</a:t>
                      </a:r>
                      <a:endParaRPr sz="12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257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baseline="-25000" lang="en" sz="1200">
                          <a:solidFill>
                            <a:schemeClr val="dk1"/>
                          </a:solidFill>
                        </a:rPr>
                        <a:t>z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 = 2K Ω</a:t>
                      </a:r>
                      <a:endParaRPr sz="12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45720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≈ 98</a:t>
                      </a:r>
                      <a:r>
                        <a:rPr lang="en" sz="12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°</a:t>
                      </a:r>
                      <a:endParaRPr sz="12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9"/>
          <p:cNvSpPr txBox="1"/>
          <p:nvPr>
            <p:ph type="title"/>
          </p:nvPr>
        </p:nvSpPr>
        <p:spPr>
          <a:xfrm>
            <a:off x="3537000" y="2285400"/>
            <a:ext cx="2070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820"/>
              <a:t>Thank you</a:t>
            </a:r>
            <a:endParaRPr b="1" sz="282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