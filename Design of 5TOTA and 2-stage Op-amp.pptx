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963547-9ECA-4E9F-9ABF-BA9760A569E4}">
  <a:tblStyle styleId="{56963547-9ECA-4E9F-9ABF-BA9760A569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17be32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17be32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17be32a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a17be32a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17be32a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17be32a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17be32a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17be32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17be32a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a17be32a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17be32a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17be32a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17be32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a17be32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17be32a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17be32a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62615d265e29e0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62615d265e29e0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17be32a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a17be32a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17be32a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a17be32a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62615d265e29e0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62615d265e29e0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17be32a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a17be32a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b52bb88144b8cfc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7b52bb88144b8cfc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2615d265e29e05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62615d265e29e0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17be32a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a17be32a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2f5e118674cf96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52f5e118674cf96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62615d265e29e05_1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62615d265e29e05_1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17be32a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a17be32a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52f5e118674cf9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52f5e118674cf9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52f5e118674cf9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52f5e118674cf9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52f5e118674cf9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52f5e118674cf9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52f5e118674cf96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52f5e118674cf96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52f5e118674cf96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52f5e118674cf96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52f5e118674cf96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52f5e118674cf96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e5dce368adbdf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ee5dce368adbdf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52f5e118674cf96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52f5e118674cf96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52f5e118674cf96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52f5e118674cf96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52f5e118674cf96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h52f5e118674cf96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52f5e118674cf96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h52f5e118674cf96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52f5e118674cf96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h52f5e118674cf96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52f5e118674cf967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h52f5e118674cf96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52f5e118674cf96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52f5e118674cf96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52f5e118674cf967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52f5e118674cf96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52f5e118674cf96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h52f5e118674cf96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52f5e118674cf9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h52f5e118674cf9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52f5e118674cf96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h52f5e118674cf96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52f5e118674cf96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h52f5e118674cf96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52f5e118674cf96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h52f5e118674cf96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52f5e118674cf96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52f5e118674cf96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52f5e118674cf96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52f5e118674cf96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52f5e118674cf96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h52f5e118674cf96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52f5e118674cf96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h52f5e118674cf96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52f5e118674cf96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h52f5e118674cf96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52f5e118674cf96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52f5e118674cf96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a17be32a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a17be32a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NMOS 5TOTA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5143500" y="3683925"/>
            <a:ext cx="3779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80">
                <a:solidFill>
                  <a:schemeClr val="dk1"/>
                </a:solidFill>
              </a:rPr>
              <a:t>Presented By</a:t>
            </a:r>
            <a:endParaRPr sz="21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80">
                <a:solidFill>
                  <a:schemeClr val="dk1"/>
                </a:solidFill>
              </a:rPr>
              <a:t>Madhukar Saini</a:t>
            </a:r>
            <a:endParaRPr sz="21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7003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804025" y="1087700"/>
            <a:ext cx="4422600" cy="23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: &gt; 30dB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Slew Rate</a:t>
            </a:r>
            <a:r>
              <a:rPr lang="en" sz="1400">
                <a:solidFill>
                  <a:schemeClr val="dk1"/>
                </a:solidFill>
              </a:rPr>
              <a:t> : 5V/µS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Load Capacitance (CL) : 10pF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ICMR : 1V to 1.8V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Bandwidth Product (GBW) : 5MHz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Ph</a:t>
            </a:r>
            <a:r>
              <a:rPr lang="en" sz="1400">
                <a:solidFill>
                  <a:schemeClr val="dk1"/>
                </a:solidFill>
              </a:rPr>
              <a:t>ase Margin (PM) : &gt; 60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°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Temperature in range −40℃ to 125℃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VDD : 2.5V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04175" y="28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- 5TOTA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525" y="1044700"/>
            <a:ext cx="3690826" cy="34675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053200" y="1657275"/>
            <a:ext cx="3236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</a:rPr>
              <a:t>Calculation of I</a:t>
            </a:r>
            <a:r>
              <a:rPr b="1" baseline="-25000" lang="en" sz="1800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endParaRPr b="1" baseline="-25000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We know,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SWR = 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/C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endParaRPr baseline="-25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5 (V/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S) = 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/ 10 pF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Therefore,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= 5 (V/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S) x 10 pF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= 50 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endParaRPr b="1" baseline="-25000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cxnSp>
        <p:nvCxnSpPr>
          <p:cNvPr id="69" name="Google Shape;69;p15"/>
          <p:cNvCxnSpPr/>
          <p:nvPr/>
        </p:nvCxnSpPr>
        <p:spPr>
          <a:xfrm flipH="1">
            <a:off x="4914350" y="1622625"/>
            <a:ext cx="11700" cy="25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24850" y="26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1</a:t>
            </a:r>
            <a:r>
              <a:rPr lang="en"/>
              <a:t> and M</a:t>
            </a:r>
            <a:r>
              <a:rPr baseline="-25000" lang="en"/>
              <a:t>2</a:t>
            </a:r>
            <a:endParaRPr baseline="-25000"/>
          </a:p>
        </p:txBody>
      </p:sp>
      <p:sp>
        <p:nvSpPr>
          <p:cNvPr id="75" name="Google Shape;75;p16"/>
          <p:cNvSpPr txBox="1"/>
          <p:nvPr/>
        </p:nvSpPr>
        <p:spPr>
          <a:xfrm>
            <a:off x="909400" y="832800"/>
            <a:ext cx="4512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know,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5 MHz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</a:t>
            </a:r>
            <a:r>
              <a:rPr lang="en">
                <a:solidFill>
                  <a:schemeClr val="dk1"/>
                </a:solidFill>
              </a:rPr>
              <a:t>Gain × 1st pole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1st pole (ω</a:t>
            </a:r>
            <a:r>
              <a:rPr baseline="-25000" lang="en">
                <a:solidFill>
                  <a:schemeClr val="dk1"/>
                </a:solidFill>
              </a:rPr>
              <a:t>pole</a:t>
            </a:r>
            <a:r>
              <a:rPr lang="en">
                <a:solidFill>
                  <a:schemeClr val="dk1"/>
                </a:solidFill>
              </a:rPr>
              <a:t> ) = 1 / (2πR</a:t>
            </a:r>
            <a:r>
              <a:rPr baseline="-25000" lang="en">
                <a:solidFill>
                  <a:schemeClr val="dk1"/>
                </a:solidFill>
              </a:rPr>
              <a:t>out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Gain = −gm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× R</a:t>
            </a:r>
            <a:r>
              <a:rPr baseline="-25000" lang="en">
                <a:solidFill>
                  <a:schemeClr val="dk1"/>
                </a:solidFill>
              </a:rPr>
              <a:t>out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Therefore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−gm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× R</a:t>
            </a:r>
            <a:r>
              <a:rPr baseline="-25000" lang="en">
                <a:solidFill>
                  <a:schemeClr val="dk1"/>
                </a:solidFill>
              </a:rPr>
              <a:t>out </a:t>
            </a:r>
            <a:r>
              <a:rPr lang="en">
                <a:solidFill>
                  <a:schemeClr val="dk1"/>
                </a:solidFill>
              </a:rPr>
              <a:t>× 1/(2πR</a:t>
            </a:r>
            <a:r>
              <a:rPr baseline="-25000" lang="en">
                <a:solidFill>
                  <a:schemeClr val="dk1"/>
                </a:solidFill>
              </a:rPr>
              <a:t>out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−gm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/ (2πC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Therefore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= GBW × 2πC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 = 314 μA/V;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Since 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 = 10 pF and GBW = 5 MHz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075525" y="686375"/>
            <a:ext cx="3516600" cy="3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know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gm = √(2I</a:t>
            </a:r>
            <a:r>
              <a:rPr baseline="-25000"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 (W/L))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Therefore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(W/L) = gm² / (2I</a:t>
            </a:r>
            <a:r>
              <a:rPr baseline="-25000"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Since I</a:t>
            </a:r>
            <a:r>
              <a:rPr baseline="-25000"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 = I</a:t>
            </a:r>
            <a:r>
              <a:rPr baseline="-25000" lang="en">
                <a:solidFill>
                  <a:schemeClr val="dk1"/>
                </a:solidFill>
              </a:rPr>
              <a:t>SS</a:t>
            </a:r>
            <a:r>
              <a:rPr lang="en">
                <a:solidFill>
                  <a:schemeClr val="dk1"/>
                </a:solidFill>
              </a:rPr>
              <a:t>/2  =  50 μA/2 = 25 μA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(W/L) = 7.88 ≈ 8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 = 250 μA/V²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 = 55 μA/V² 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7" name="Google Shape;77;p16"/>
          <p:cNvCxnSpPr/>
          <p:nvPr/>
        </p:nvCxnSpPr>
        <p:spPr>
          <a:xfrm>
            <a:off x="4627775" y="580375"/>
            <a:ext cx="0" cy="38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13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3</a:t>
            </a:r>
            <a:r>
              <a:rPr lang="en"/>
              <a:t> and M</a:t>
            </a:r>
            <a:r>
              <a:rPr baseline="-25000" lang="en"/>
              <a:t>4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4619625" y="571500"/>
            <a:ext cx="0" cy="38577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7"/>
          <p:cNvSpPr txBox="1"/>
          <p:nvPr/>
        </p:nvSpPr>
        <p:spPr>
          <a:xfrm>
            <a:off x="762000" y="857250"/>
            <a:ext cx="3619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ICMR⁺ = VDD −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aseline="-25000" lang="en"/>
              <a:t>1,2</a:t>
            </a:r>
            <a:endParaRPr b="0" baseline="-2500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VDD = 2.5 V,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TH1,2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0.</a:t>
            </a:r>
            <a:r>
              <a:rPr lang="en"/>
              <a:t>8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VDD − ICMR⁺ +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TH1,2</a:t>
            </a:r>
            <a:endParaRPr b="0" baseline="-2500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V</a:t>
            </a:r>
            <a:r>
              <a:rPr baseline="-25000" lang="en" sz="1400">
                <a:solidFill>
                  <a:srgbClr val="000000"/>
                </a:solidFill>
              </a:rPr>
              <a:t>SG3</a:t>
            </a:r>
            <a:r>
              <a:rPr lang="en" sz="1400">
                <a:solidFill>
                  <a:srgbClr val="000000"/>
                </a:solidFill>
              </a:rPr>
              <a:t> = </a:t>
            </a:r>
            <a:r>
              <a:rPr lang="en"/>
              <a:t>1.5</a:t>
            </a:r>
            <a:r>
              <a:rPr lang="en" sz="1400">
                <a:solidFill>
                  <a:srgbClr val="000000"/>
                </a:solidFill>
              </a:rPr>
              <a:t> V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713600" y="666750"/>
            <a:ext cx="41187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(W/L)</a:t>
            </a:r>
            <a:r>
              <a:rPr b="1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3,4</a:t>
            </a:r>
            <a:endParaRPr b="1" baseline="-2500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PMOS M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 )μ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(W/L)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|V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|)²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3,4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2I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|V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)²]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3,4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1.855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≈ </a:t>
            </a:r>
            <a:r>
              <a:rPr lang="en"/>
              <a:t>2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"/>
              <a:t>250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/>
              <a:t>A/V² 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"/>
              <a:t>5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μ</a:t>
            </a:r>
            <a:r>
              <a:rPr lang="en"/>
              <a:t>A/V² 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06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0</a:t>
            </a:r>
            <a:r>
              <a:rPr lang="en"/>
              <a:t> and M</a:t>
            </a:r>
            <a:r>
              <a:rPr baseline="-25000" lang="en"/>
              <a:t>5</a:t>
            </a:r>
            <a:endParaRPr baseline="-25000"/>
          </a:p>
        </p:txBody>
      </p:sp>
      <p:cxnSp>
        <p:nvCxnSpPr>
          <p:cNvPr id="91" name="Google Shape;91;p18"/>
          <p:cNvCxnSpPr/>
          <p:nvPr/>
        </p:nvCxnSpPr>
        <p:spPr>
          <a:xfrm>
            <a:off x="4619625" y="571500"/>
            <a:ext cx="8100" cy="3381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8"/>
          <p:cNvSpPr txBox="1"/>
          <p:nvPr/>
        </p:nvSpPr>
        <p:spPr>
          <a:xfrm>
            <a:off x="762000" y="857250"/>
            <a:ext cx="3619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ICMR⁻ = V</a:t>
            </a:r>
            <a:r>
              <a:rPr lang="en"/>
              <a:t>ov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GS1</a:t>
            </a:r>
            <a:endParaRPr b="0" baseline="-2500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"/>
              <a:t>ov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ICMR⁻ −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GS1</a:t>
            </a:r>
            <a:endParaRPr b="0" baseline="-2500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"/>
              <a:t>ov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1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 mV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r>
              <a:rPr lang="en"/>
              <a:t>.8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i="0" lang="en" sz="1400">
                <a:solidFill>
                  <a:srgbClr val="000000"/>
                </a:solidFill>
              </a:rPr>
              <a:t>V</a:t>
            </a:r>
            <a:r>
              <a:rPr baseline="-25000" i="0" lang="en" sz="1400">
                <a:solidFill>
                  <a:srgbClr val="000000"/>
                </a:solidFill>
              </a:rPr>
              <a:t>GS1</a:t>
            </a:r>
            <a:r>
              <a:rPr i="0" lang="en" sz="1400">
                <a:solidFill>
                  <a:srgbClr val="000000"/>
                </a:solidFill>
              </a:rPr>
              <a:t> = </a:t>
            </a:r>
            <a:r>
              <a:rPr lang="en"/>
              <a:t>0.9</a:t>
            </a:r>
            <a:r>
              <a:rPr i="0" lang="en" sz="1400">
                <a:solidFill>
                  <a:srgbClr val="000000"/>
                </a:solidFill>
              </a:rPr>
              <a:t>V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4713600" y="666750"/>
            <a:ext cx="4118700" cy="439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(W/L)</a:t>
            </a:r>
            <a:r>
              <a:rPr b="1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endParaRPr b="1" baseline="-2500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drain current is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(½)μ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 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Rearranging,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2I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)²]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40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p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250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/>
              <a:t>A/V² 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55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/>
              <a:t>A/V² 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623400" y="26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650" y="1078600"/>
            <a:ext cx="5156701" cy="37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820275" y="29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Sizes</a:t>
            </a:r>
            <a:r>
              <a:rPr lang="en" sz="2022"/>
              <a:t>(W/L)</a:t>
            </a:r>
            <a:r>
              <a:rPr lang="en"/>
              <a:t> of transistors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1028400" y="225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{56963547-9ECA-4E9F-9ABF-BA9760A569E4}</a:tableStyleId>
              </a:tblPr>
              <a:tblGrid>
                <a:gridCol w="1794525"/>
                <a:gridCol w="1785975"/>
                <a:gridCol w="1785975"/>
              </a:tblGrid>
              <a:tr h="44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Transistor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 from Calculation </a:t>
                      </a:r>
                      <a:r>
                        <a:rPr lang="en"/>
                        <a:t>in (W/L)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 adjustment in the Simulation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in (W/L)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r>
                        <a:rPr baseline="-25000" lang="en"/>
                        <a:t>1</a:t>
                      </a:r>
                      <a:r>
                        <a:rPr lang="en"/>
                        <a:t> and M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/500n, f =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r>
                        <a:rPr baseline="-25000" lang="en"/>
                        <a:t>3</a:t>
                      </a:r>
                      <a:r>
                        <a:rPr lang="en"/>
                        <a:t> and M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/1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, f =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r>
                        <a:rPr baseline="-25000" lang="en"/>
                        <a:t>5</a:t>
                      </a:r>
                      <a:r>
                        <a:rPr lang="en"/>
                        <a:t> and M</a:t>
                      </a:r>
                      <a:r>
                        <a:rPr baseline="-25000" lang="en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/1.4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, f = 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20"/>
          <p:cNvSpPr txBox="1"/>
          <p:nvPr/>
        </p:nvSpPr>
        <p:spPr>
          <a:xfrm>
            <a:off x="903700" y="1194850"/>
            <a:ext cx="73521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Sizes of transistors from calculations has adjusted a bit to get results according to the specifications.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6636700" y="2235225"/>
            <a:ext cx="1791600" cy="104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Increased input devices size to decrease input offset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8" name="Google Shape;108;p20"/>
          <p:cNvCxnSpPr/>
          <p:nvPr/>
        </p:nvCxnSpPr>
        <p:spPr>
          <a:xfrm flipH="1" rot="10800000">
            <a:off x="6128125" y="2917275"/>
            <a:ext cx="497100" cy="3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717975" y="672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Corner Setup</a:t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792500" y="1962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{56963547-9ECA-4E9F-9ABF-BA9760A569E4}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Temperature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-40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℃</a:t>
                      </a:r>
                      <a:r>
                        <a:rPr lang="en"/>
                        <a:t> 27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℃</a:t>
                      </a:r>
                      <a:r>
                        <a:rPr lang="en"/>
                        <a:t> 125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℃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2.25V, 2.5V, 2.75V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tt,ss,ff,sf,fs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DC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63" y="1017725"/>
            <a:ext cx="7929073" cy="354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450400" y="34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ICMR-)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113" y="1488500"/>
            <a:ext cx="5881775" cy="24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450400" y="375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ICMR+)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450" y="1220175"/>
            <a:ext cx="6093100" cy="25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Stability 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912" y="1144850"/>
            <a:ext cx="7880170" cy="34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</a:t>
            </a:r>
            <a:r>
              <a:rPr lang="en"/>
              <a:t>(</a:t>
            </a:r>
            <a:r>
              <a:rPr lang="en" sz="2750"/>
              <a:t>ICMR-)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375" y="927375"/>
            <a:ext cx="7305251" cy="314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525" y="4075050"/>
            <a:ext cx="6623775" cy="6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(</a:t>
            </a:r>
            <a:r>
              <a:rPr lang="en" sz="2750"/>
              <a:t>ICMR+)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925" y="927375"/>
            <a:ext cx="7296999" cy="32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 rotWithShape="1">
          <a:blip r:embed="rId4">
            <a:alphaModFix/>
          </a:blip>
          <a:srcRect b="0" l="0" r="882" t="0"/>
          <a:stretch/>
        </p:blipFill>
        <p:spPr>
          <a:xfrm>
            <a:off x="1806475" y="4199275"/>
            <a:ext cx="5507075" cy="63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236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PSRR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450" y="962075"/>
            <a:ext cx="7333099" cy="33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762475" y="38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</a:t>
            </a:r>
            <a:r>
              <a:rPr lang="en"/>
              <a:t>(</a:t>
            </a:r>
            <a:r>
              <a:rPr lang="en" sz="2750"/>
              <a:t>ICMR</a:t>
            </a:r>
            <a:r>
              <a:rPr baseline="30000" lang="en" sz="2750"/>
              <a:t>-</a:t>
            </a:r>
            <a:r>
              <a:rPr lang="en" sz="2750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513" y="1184650"/>
            <a:ext cx="7260975" cy="277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375" y="3958850"/>
            <a:ext cx="6355625" cy="7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745625" y="269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</a:t>
            </a:r>
            <a:r>
              <a:rPr lang="en"/>
              <a:t>(</a:t>
            </a:r>
            <a:r>
              <a:rPr lang="en" sz="2750"/>
              <a:t>ICMR</a:t>
            </a:r>
            <a:r>
              <a:rPr baseline="30000" lang="en" sz="2750"/>
              <a:t>+</a:t>
            </a:r>
            <a:r>
              <a:rPr lang="en" sz="2750"/>
              <a:t>)</a:t>
            </a:r>
            <a:endParaRPr/>
          </a:p>
        </p:txBody>
      </p:sp>
      <p:sp>
        <p:nvSpPr>
          <p:cNvPr id="172" name="Google Shape;172;p30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913" y="1137925"/>
            <a:ext cx="7304176" cy="27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2400" y="3928000"/>
            <a:ext cx="6170176" cy="8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Mismatch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74" y="1158575"/>
            <a:ext cx="7212851" cy="3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479825" y="27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Mismatch Monte Carlo </a:t>
            </a:r>
            <a:endParaRPr/>
          </a:p>
        </p:txBody>
      </p:sp>
      <p:sp>
        <p:nvSpPr>
          <p:cNvPr id="186" name="Google Shape;186;p32"/>
          <p:cNvSpPr txBox="1"/>
          <p:nvPr/>
        </p:nvSpPr>
        <p:spPr>
          <a:xfrm>
            <a:off x="942600" y="4283725"/>
            <a:ext cx="72588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simulation is done at 1V reference voltage to positive terminal of its input, </a:t>
            </a:r>
            <a:r>
              <a:rPr lang="en">
                <a:solidFill>
                  <a:schemeClr val="dk1"/>
                </a:solidFill>
              </a:rPr>
              <a:t>negative</a:t>
            </a:r>
            <a:r>
              <a:rPr lang="en">
                <a:solidFill>
                  <a:schemeClr val="dk1"/>
                </a:solidFill>
              </a:rPr>
              <a:t> terminal is varying from 1.004V to 1.015V from the </a:t>
            </a:r>
            <a:r>
              <a:rPr lang="en">
                <a:solidFill>
                  <a:schemeClr val="dk1"/>
                </a:solidFill>
              </a:rPr>
              <a:t>output</a:t>
            </a:r>
            <a:r>
              <a:rPr lang="en">
                <a:solidFill>
                  <a:schemeClr val="dk1"/>
                </a:solidFill>
              </a:rPr>
              <a:t> and the standard deviation here is 4.454mV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626" y="996725"/>
            <a:ext cx="7423201" cy="3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ctrTitle"/>
          </p:nvPr>
        </p:nvSpPr>
        <p:spPr>
          <a:xfrm>
            <a:off x="311708" y="10510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2 Stage Op-amp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3"/>
          <p:cNvSpPr txBox="1"/>
          <p:nvPr/>
        </p:nvSpPr>
        <p:spPr>
          <a:xfrm>
            <a:off x="5143500" y="3683925"/>
            <a:ext cx="3779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80">
                <a:solidFill>
                  <a:schemeClr val="dk1"/>
                </a:solidFill>
              </a:rPr>
              <a:t>Presented By</a:t>
            </a:r>
            <a:endParaRPr sz="21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80">
                <a:solidFill>
                  <a:schemeClr val="dk1"/>
                </a:solidFill>
              </a:rPr>
              <a:t>Madhukar Saini</a:t>
            </a:r>
            <a:endParaRPr sz="21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7003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804025" y="1087700"/>
            <a:ext cx="5075700" cy="26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: &gt;30dB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Bandwidth Product (GBW) : 5 MHz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Slew Rate : 5V/µs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Load Capacitance (CL) : 2pF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ICMR : 1V to 1.8V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Phase Margin (PM) : &gt;60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°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VDD : 2.5V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404175" y="28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- 2 Stage Op-Amp</a:t>
            </a:r>
            <a:endParaRPr/>
          </a:p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825" y="1107700"/>
            <a:ext cx="5084352" cy="398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623400" y="28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6</a:t>
            </a:r>
            <a:r>
              <a:rPr lang="en"/>
              <a:t> and M</a:t>
            </a:r>
            <a:r>
              <a:rPr baseline="-25000" lang="en"/>
              <a:t>7</a:t>
            </a:r>
            <a:endParaRPr baseline="-25000"/>
          </a:p>
        </p:txBody>
      </p:sp>
      <p:sp>
        <p:nvSpPr>
          <p:cNvPr id="211" name="Google Shape;211;p36"/>
          <p:cNvSpPr txBox="1"/>
          <p:nvPr/>
        </p:nvSpPr>
        <p:spPr>
          <a:xfrm>
            <a:off x="789925" y="922750"/>
            <a:ext cx="7791600" cy="3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To increase the Current and Gm in the second stage we are making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(w/l) of M</a:t>
            </a:r>
            <a:r>
              <a:rPr baseline="-25000" lang="en">
                <a:solidFill>
                  <a:schemeClr val="dk1"/>
                </a:solidFill>
              </a:rPr>
              <a:t>6</a:t>
            </a:r>
            <a:r>
              <a:rPr lang="en">
                <a:solidFill>
                  <a:schemeClr val="dk1"/>
                </a:solidFill>
              </a:rPr>
              <a:t>= 4x(w/l) of M</a:t>
            </a:r>
            <a:r>
              <a:rPr baseline="-25000" lang="en">
                <a:solidFill>
                  <a:schemeClr val="dk1"/>
                </a:solidFill>
              </a:rPr>
              <a:t>4</a:t>
            </a:r>
            <a:endParaRPr baseline="-25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(w/l) of M</a:t>
            </a:r>
            <a:r>
              <a:rPr baseline="-25000" lang="en">
                <a:solidFill>
                  <a:schemeClr val="dk1"/>
                </a:solidFill>
              </a:rPr>
              <a:t>7</a:t>
            </a:r>
            <a:r>
              <a:rPr lang="en">
                <a:solidFill>
                  <a:schemeClr val="dk1"/>
                </a:solidFill>
              </a:rPr>
              <a:t>= 4x(w/l) of M</a:t>
            </a:r>
            <a:r>
              <a:rPr baseline="-25000" lang="en">
                <a:solidFill>
                  <a:schemeClr val="dk1"/>
                </a:solidFill>
              </a:rPr>
              <a:t>5</a:t>
            </a:r>
            <a:endParaRPr baseline="-25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So multipliers of (w/l) of M</a:t>
            </a:r>
            <a:r>
              <a:rPr baseline="-25000" lang="en">
                <a:solidFill>
                  <a:schemeClr val="dk1"/>
                </a:solidFill>
              </a:rPr>
              <a:t>6</a:t>
            </a:r>
            <a:r>
              <a:rPr lang="en">
                <a:solidFill>
                  <a:schemeClr val="dk1"/>
                </a:solidFill>
              </a:rPr>
              <a:t> and (w/l) of M</a:t>
            </a:r>
            <a:r>
              <a:rPr baseline="-25000" lang="en">
                <a:solidFill>
                  <a:schemeClr val="dk1"/>
                </a:solidFill>
              </a:rPr>
              <a:t>7</a:t>
            </a:r>
            <a:r>
              <a:rPr lang="en">
                <a:solidFill>
                  <a:schemeClr val="dk1"/>
                </a:solidFill>
              </a:rPr>
              <a:t> are increased to 4 by maintaining Length and Number of Fingers same in ADE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9900"/>
                </a:highlight>
              </a:rPr>
              <a:t>Note : (w/l) of M</a:t>
            </a:r>
            <a:r>
              <a:rPr baseline="-25000" lang="en">
                <a:solidFill>
                  <a:schemeClr val="dk1"/>
                </a:solidFill>
                <a:highlight>
                  <a:srgbClr val="FF9900"/>
                </a:highlight>
              </a:rPr>
              <a:t>4</a:t>
            </a:r>
            <a:r>
              <a:rPr lang="en">
                <a:solidFill>
                  <a:schemeClr val="dk1"/>
                </a:solidFill>
                <a:highlight>
                  <a:srgbClr val="FF9900"/>
                </a:highlight>
              </a:rPr>
              <a:t> to M</a:t>
            </a:r>
            <a:r>
              <a:rPr baseline="-25000" lang="en">
                <a:solidFill>
                  <a:schemeClr val="dk1"/>
                </a:solidFill>
                <a:highlight>
                  <a:srgbClr val="FF9900"/>
                </a:highlight>
              </a:rPr>
              <a:t>6</a:t>
            </a:r>
            <a:r>
              <a:rPr lang="en">
                <a:solidFill>
                  <a:schemeClr val="dk1"/>
                </a:solidFill>
                <a:highlight>
                  <a:srgbClr val="FF9900"/>
                </a:highlight>
              </a:rPr>
              <a:t> has changed from 4µ/500n to 8µ/1µ</a:t>
            </a:r>
            <a:endParaRPr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Calculation of CC</a:t>
            </a:r>
            <a:endParaRPr b="1" baseline="-25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Generally 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should be greater than 0.22CL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	The given 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is 10pF, that means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	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&gt;0.22C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endParaRPr baseline="-25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	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&gt;0.22C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=0.22*2pF=440fF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But in simulation since the 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is taken from 5T OTA Design the 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was adjusted to 5pF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Miller Compensation</a:t>
            </a:r>
            <a:endParaRPr/>
          </a:p>
        </p:txBody>
      </p:sp>
      <p:pic>
        <p:nvPicPr>
          <p:cNvPr id="217" name="Google Shape;217;p37"/>
          <p:cNvPicPr preferRelativeResize="0"/>
          <p:nvPr/>
        </p:nvPicPr>
        <p:blipFill rotWithShape="1">
          <a:blip r:embed="rId3">
            <a:alphaModFix/>
          </a:blip>
          <a:srcRect b="0" l="0" r="0" t="43224"/>
          <a:stretch/>
        </p:blipFill>
        <p:spPr>
          <a:xfrm>
            <a:off x="3677825" y="3085150"/>
            <a:ext cx="4298376" cy="112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7"/>
          <p:cNvSpPr txBox="1"/>
          <p:nvPr/>
        </p:nvSpPr>
        <p:spPr>
          <a:xfrm>
            <a:off x="480400" y="1176150"/>
            <a:ext cx="74958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The compensation capacitor (C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is connected between the output of the first stage and the output of the second stage.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Due to the Miller effect, the effective capacitance at the first-stage output node increases.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This creates pole splitting, separating the dominant pole from the higher-frequency pole.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Pole splitting improves the stability and phase margin of the two-stage op-amp.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Miller Approximation: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	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in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= 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(1-A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en">
                <a:solidFill>
                  <a:schemeClr val="dk1"/>
                </a:solidFill>
              </a:rPr>
              <a:t>≈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(1+|A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|) 		 (at node 1)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= 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(1-(1/A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)) </a:t>
            </a:r>
            <a:r>
              <a:rPr lang="en">
                <a:solidFill>
                  <a:schemeClr val="dk1"/>
                </a:solidFill>
              </a:rPr>
              <a:t>≈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(1+(1/(|A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|))  	 (at node 2)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623400" y="26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pic>
        <p:nvPicPr>
          <p:cNvPr id="224" name="Google Shape;2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350" y="832775"/>
            <a:ext cx="7189301" cy="37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8"/>
          <p:cNvSpPr txBox="1"/>
          <p:nvPr/>
        </p:nvSpPr>
        <p:spPr>
          <a:xfrm>
            <a:off x="2426800" y="178075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Inverter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6" name="Google Shape;226;p38"/>
          <p:cNvSpPr txBox="1"/>
          <p:nvPr/>
        </p:nvSpPr>
        <p:spPr>
          <a:xfrm>
            <a:off x="1220850" y="324180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Transmission Gate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2494225" y="4241000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3763625" y="2004550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7048475" y="3626125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Power-Down &amp; Enable Control in Two-Stage Op-Amp</a:t>
            </a:r>
            <a:endParaRPr b="1" sz="2500"/>
          </a:p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935650" y="1152475"/>
            <a:ext cx="713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Inverter (Control Signal Generation):</a:t>
            </a:r>
            <a:r>
              <a:rPr lang="en" sz="1400">
                <a:solidFill>
                  <a:schemeClr val="dk1"/>
                </a:solidFill>
              </a:rPr>
              <a:t> Generates complementary control signals from a single active-high digital enable pin (en → enb), synchronizing all NMOS and PMOS switches simultaneously.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Transmission Gate (Bias Isolation):</a:t>
            </a:r>
            <a:r>
              <a:rPr lang="en" sz="1400">
                <a:solidFill>
                  <a:schemeClr val="dk1"/>
                </a:solidFill>
              </a:rPr>
              <a:t> Placed in series with the input bias line (Ibias​) to disconnect external current feed during sleep mode without causing threshold voltage drops (Vth​).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Node Clamp/Pull Switches:</a:t>
            </a:r>
            <a:r>
              <a:rPr lang="en" sz="1400">
                <a:solidFill>
                  <a:schemeClr val="dk1"/>
                </a:solidFill>
              </a:rPr>
              <a:t> During power-down (enb = High), the 3 shunt switches turn ON to pull NMOS gates to GND, PMOS gates to VDD​, and the output to GND, completely shutting off all current paths (Vgs​=0 V) and preventing floating nodes.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820275" y="29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/>
              <a:t>Sizes  of Components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1" name="Google Shape;241;p40"/>
          <p:cNvGraphicFramePr/>
          <p:nvPr/>
        </p:nvGraphicFramePr>
        <p:xfrm>
          <a:off x="1017575" y="17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{56963547-9ECA-4E9F-9ABF-BA9760A569E4}</a:tableStyleId>
              </a:tblPr>
              <a:tblGrid>
                <a:gridCol w="2169750"/>
                <a:gridCol w="2159400"/>
                <a:gridCol w="2159400"/>
              </a:tblGrid>
              <a:tr h="576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Transistor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Size from Calculation in (W/L)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Size adjustment in the Simulation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 (W/L)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1</a:t>
                      </a:r>
                      <a:r>
                        <a:rPr lang="en" sz="1200"/>
                        <a:t> and M</a:t>
                      </a:r>
                      <a:r>
                        <a:rPr baseline="-25000" lang="en" sz="1200"/>
                        <a:t>2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/500n, nf = 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3</a:t>
                      </a:r>
                      <a:r>
                        <a:rPr lang="en" sz="1200"/>
                        <a:t> and M</a:t>
                      </a:r>
                      <a:r>
                        <a:rPr baseline="-25000" lang="en" sz="1200"/>
                        <a:t>4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/1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, nf = 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5</a:t>
                      </a:r>
                      <a:r>
                        <a:rPr lang="en" sz="1200"/>
                        <a:t> and M</a:t>
                      </a:r>
                      <a:r>
                        <a:rPr baseline="-25000" lang="en" sz="1200"/>
                        <a:t>0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/1.4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, nf = 10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6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/1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, nf = 2, m= 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7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5µ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/1.4µ, nf = 10, m= 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2" name="Google Shape;242;p40"/>
          <p:cNvSpPr txBox="1"/>
          <p:nvPr/>
        </p:nvSpPr>
        <p:spPr>
          <a:xfrm>
            <a:off x="903700" y="1070625"/>
            <a:ext cx="68322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Sizes of components from calculations has adjusted to get results according to the specifications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693125" y="341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Corner Setup</a:t>
            </a:r>
            <a:endParaRPr/>
          </a:p>
        </p:txBody>
      </p:sp>
      <p:graphicFrame>
        <p:nvGraphicFramePr>
          <p:cNvPr id="248" name="Google Shape;248;p41"/>
          <p:cNvGraphicFramePr/>
          <p:nvPr/>
        </p:nvGraphicFramePr>
        <p:xfrm>
          <a:off x="693125" y="230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{56963547-9ECA-4E9F-9ABF-BA9760A569E4}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Temperature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-40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°C</a:t>
                      </a:r>
                      <a:r>
                        <a:rPr lang="en"/>
                        <a:t> 27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°C</a:t>
                      </a:r>
                      <a:r>
                        <a:rPr lang="en"/>
                        <a:t> 125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°C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2.25V 2.5V 2.75V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tt,ss,ff,sf,fs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DC</a:t>
            </a:r>
            <a:endParaRPr/>
          </a:p>
        </p:txBody>
      </p:sp>
      <p:pic>
        <p:nvPicPr>
          <p:cNvPr id="254" name="Google Shape;2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987" y="1203175"/>
            <a:ext cx="7282024" cy="290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450400" y="34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</a:t>
            </a:r>
            <a:r>
              <a:rPr baseline="30000" lang="en" sz="2750"/>
              <a:t>-</a:t>
            </a:r>
            <a:r>
              <a:rPr lang="en" sz="2750"/>
              <a:t>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800" y="1059525"/>
            <a:ext cx="6970400" cy="34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458675" y="301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</a:t>
            </a:r>
            <a:r>
              <a:rPr baseline="30000" lang="en" sz="2750"/>
              <a:t>+</a:t>
            </a:r>
            <a:r>
              <a:rPr lang="en" sz="2750"/>
              <a:t>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475" y="991525"/>
            <a:ext cx="7213126" cy="35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AC (PSRR) (Closed loop)</a:t>
            </a:r>
            <a:endParaRPr/>
          </a:p>
        </p:txBody>
      </p:sp>
      <p:pic>
        <p:nvPicPr>
          <p:cNvPr id="272" name="Google Shape;27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663" y="951450"/>
            <a:ext cx="6854674" cy="35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>
            <p:ph type="title"/>
          </p:nvPr>
        </p:nvSpPr>
        <p:spPr>
          <a:xfrm>
            <a:off x="369675" y="27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(ICMR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</p:txBody>
      </p:sp>
      <p:sp>
        <p:nvSpPr>
          <p:cNvPr id="278" name="Google Shape;278;p46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9" name="Google Shape;2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975" y="993926"/>
            <a:ext cx="7300626" cy="303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5600" y="4027325"/>
            <a:ext cx="6169372" cy="81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369675" y="27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(ICMR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</p:txBody>
      </p:sp>
      <p:sp>
        <p:nvSpPr>
          <p:cNvPr id="286" name="Google Shape;286;p47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7" name="Google Shape;28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785225"/>
            <a:ext cx="7238999" cy="338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437" y="4171800"/>
            <a:ext cx="6539126" cy="8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Stability</a:t>
            </a:r>
            <a:endParaRPr/>
          </a:p>
        </p:txBody>
      </p:sp>
      <p:pic>
        <p:nvPicPr>
          <p:cNvPr id="294" name="Google Shape;294;p48"/>
          <p:cNvPicPr preferRelativeResize="0"/>
          <p:nvPr/>
        </p:nvPicPr>
        <p:blipFill rotWithShape="1">
          <a:blip r:embed="rId3">
            <a:alphaModFix/>
          </a:blip>
          <a:srcRect b="0" l="19184" r="8" t="0"/>
          <a:stretch/>
        </p:blipFill>
        <p:spPr>
          <a:xfrm>
            <a:off x="1325212" y="1225800"/>
            <a:ext cx="6493574" cy="30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(ICMR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362" y="927375"/>
            <a:ext cx="7305273" cy="31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211" y="4112875"/>
            <a:ext cx="4867577" cy="64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(ICMR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075" y="886825"/>
            <a:ext cx="7263851" cy="336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4256673"/>
            <a:ext cx="4572000" cy="5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Transient Analysis</a:t>
            </a:r>
            <a:endParaRPr/>
          </a:p>
        </p:txBody>
      </p:sp>
      <p:pic>
        <p:nvPicPr>
          <p:cNvPr id="314" name="Google Shape;3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313" y="1325125"/>
            <a:ext cx="6195374" cy="30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type="title"/>
          </p:nvPr>
        </p:nvSpPr>
        <p:spPr>
          <a:xfrm>
            <a:off x="311700" y="163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Response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52"/>
          <p:cNvPicPr preferRelativeResize="0"/>
          <p:nvPr/>
        </p:nvPicPr>
        <p:blipFill rotWithShape="1">
          <a:blip r:embed="rId3">
            <a:alphaModFix/>
          </a:blip>
          <a:srcRect b="0" l="1048" r="1019" t="0"/>
          <a:stretch/>
        </p:blipFill>
        <p:spPr>
          <a:xfrm>
            <a:off x="447250" y="777775"/>
            <a:ext cx="8009276" cy="344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2"/>
          <p:cNvSpPr txBox="1"/>
          <p:nvPr/>
        </p:nvSpPr>
        <p:spPr>
          <a:xfrm>
            <a:off x="447250" y="4414625"/>
            <a:ext cx="80922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Here the input is changing to 2.25V, 2.5V and 2.75V from 0V in 0S to 1uS, where we are not seeing any ringing effect in output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Monte Carlo</a:t>
            </a:r>
            <a:endParaRPr/>
          </a:p>
        </p:txBody>
      </p:sp>
      <p:pic>
        <p:nvPicPr>
          <p:cNvPr id="327" name="Google Shape;32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350" y="1294350"/>
            <a:ext cx="7189300" cy="3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4"/>
          <p:cNvSpPr txBox="1"/>
          <p:nvPr>
            <p:ph type="title"/>
          </p:nvPr>
        </p:nvSpPr>
        <p:spPr>
          <a:xfrm>
            <a:off x="504675" y="445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Mismatch Monte Carlo </a:t>
            </a:r>
            <a:endParaRPr/>
          </a:p>
        </p:txBody>
      </p:sp>
      <p:sp>
        <p:nvSpPr>
          <p:cNvPr id="333" name="Google Shape;333;p54"/>
          <p:cNvSpPr txBox="1"/>
          <p:nvPr/>
        </p:nvSpPr>
        <p:spPr>
          <a:xfrm>
            <a:off x="632650" y="4290975"/>
            <a:ext cx="8135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input is varying from 1.011V to 999.9mV, where the Standard Deviation is 4.477mV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34" name="Google Shape;33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925" y="1221725"/>
            <a:ext cx="7252124" cy="301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>
            <p:ph type="title"/>
          </p:nvPr>
        </p:nvSpPr>
        <p:spPr>
          <a:xfrm>
            <a:off x="311700" y="1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LHP zero</a:t>
            </a:r>
            <a:endParaRPr/>
          </a:p>
        </p:txBody>
      </p:sp>
      <p:sp>
        <p:nvSpPr>
          <p:cNvPr id="340" name="Google Shape;340;p55"/>
          <p:cNvSpPr txBox="1"/>
          <p:nvPr/>
        </p:nvSpPr>
        <p:spPr>
          <a:xfrm>
            <a:off x="495500" y="760975"/>
            <a:ext cx="7571700" cy="4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​ provides feedback from the output to the first-stage output.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Due to the Miller effect, it appears as a large capacitance at the first stage: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Ceff≈C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(1+∣A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∣)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This creates a low-frequency dominant pole, separating the poles and improving stability.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Why does a zero appear?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 provides a direct feed-forward path from V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to V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, in addition to the normal second-stage path through gm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interaction of these two paths introduces a zero in the transfer function.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With only 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 (R</a:t>
            </a:r>
            <a:r>
              <a:rPr baseline="-25000" lang="en" sz="1200">
                <a:solidFill>
                  <a:schemeClr val="dk1"/>
                </a:solidFill>
              </a:rPr>
              <a:t>z</a:t>
            </a:r>
            <a:r>
              <a:rPr lang="en" sz="1200">
                <a:solidFill>
                  <a:schemeClr val="dk1"/>
                </a:solidFill>
              </a:rPr>
              <a:t>=0), this zero is in the </a:t>
            </a:r>
            <a:r>
              <a:rPr b="1" lang="en" sz="1200">
                <a:solidFill>
                  <a:schemeClr val="dk1"/>
                </a:solidFill>
              </a:rPr>
              <a:t>right-half plane (RHP)</a:t>
            </a:r>
            <a:r>
              <a:rPr lang="en" sz="1200">
                <a:solidFill>
                  <a:schemeClr val="dk1"/>
                </a:solidFill>
              </a:rPr>
              <a:t> and adds phase lag, reducing phase margin.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Key idea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Adding R</a:t>
            </a:r>
            <a:r>
              <a:rPr baseline="-25000" lang="en" sz="1200">
                <a:solidFill>
                  <a:schemeClr val="dk1"/>
                </a:solidFill>
              </a:rPr>
              <a:t>z</a:t>
            </a:r>
            <a:r>
              <a:rPr lang="en" sz="1200">
                <a:solidFill>
                  <a:schemeClr val="dk1"/>
                </a:solidFill>
              </a:rPr>
              <a:t> in series with C</a:t>
            </a:r>
            <a:r>
              <a:rPr baseline="-25000" lang="en" sz="1200">
                <a:solidFill>
                  <a:schemeClr val="dk1"/>
                </a:solidFill>
              </a:rPr>
              <a:t>C </a:t>
            </a:r>
            <a:r>
              <a:rPr lang="en" sz="1200">
                <a:solidFill>
                  <a:schemeClr val="dk1"/>
                </a:solidFill>
              </a:rPr>
              <a:t>modifies the feed-forward path.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By choosing R</a:t>
            </a:r>
            <a:r>
              <a:rPr baseline="-25000" lang="en" sz="1200">
                <a:solidFill>
                  <a:schemeClr val="dk1"/>
                </a:solidFill>
              </a:rPr>
              <a:t>z</a:t>
            </a:r>
            <a:r>
              <a:rPr lang="en" sz="1200">
                <a:solidFill>
                  <a:schemeClr val="dk1"/>
                </a:solidFill>
              </a:rPr>
              <a:t> appropriately, the RHP zero can be removed or moved to the </a:t>
            </a:r>
            <a:r>
              <a:rPr b="1" lang="en" sz="1200">
                <a:solidFill>
                  <a:schemeClr val="dk1"/>
                </a:solidFill>
              </a:rPr>
              <a:t>left-half plane (LHP)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LHP zero provides positive phase lead, which improves phase margin.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41" name="Google Shape;3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601" y="3095125"/>
            <a:ext cx="2054026" cy="69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6"/>
          <p:cNvSpPr txBox="1"/>
          <p:nvPr>
            <p:ph type="title"/>
          </p:nvPr>
        </p:nvSpPr>
        <p:spPr>
          <a:xfrm>
            <a:off x="311700" y="237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Effect of Rz on Zero Location and Phase</a:t>
            </a:r>
            <a:endParaRPr sz="2500"/>
          </a:p>
        </p:txBody>
      </p:sp>
      <p:pic>
        <p:nvPicPr>
          <p:cNvPr id="347" name="Google Shape;347;p56"/>
          <p:cNvPicPr preferRelativeResize="0"/>
          <p:nvPr/>
        </p:nvPicPr>
        <p:blipFill rotWithShape="1">
          <a:blip r:embed="rId3">
            <a:alphaModFix/>
          </a:blip>
          <a:srcRect b="0" l="0" r="0" t="13927"/>
          <a:stretch/>
        </p:blipFill>
        <p:spPr>
          <a:xfrm>
            <a:off x="409175" y="969050"/>
            <a:ext cx="7157176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- Adding LHP zero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25" y="1130175"/>
            <a:ext cx="7230726" cy="36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7"/>
          <p:cNvSpPr/>
          <p:nvPr/>
        </p:nvSpPr>
        <p:spPr>
          <a:xfrm>
            <a:off x="5063243" y="2601330"/>
            <a:ext cx="1061975" cy="522925"/>
          </a:xfrm>
          <a:custGeom>
            <a:rect b="b" l="l" r="r" t="t"/>
            <a:pathLst>
              <a:path extrusionOk="0" h="20917" w="42479">
                <a:moveTo>
                  <a:pt x="37334" y="2958"/>
                </a:moveTo>
                <a:cubicBezTo>
                  <a:pt x="26061" y="2958"/>
                  <a:pt x="14006" y="-2557"/>
                  <a:pt x="3541" y="1633"/>
                </a:cubicBezTo>
                <a:cubicBezTo>
                  <a:pt x="-763" y="3356"/>
                  <a:pt x="-202" y="10644"/>
                  <a:pt x="560" y="15217"/>
                </a:cubicBezTo>
                <a:cubicBezTo>
                  <a:pt x="1605" y="21488"/>
                  <a:pt x="12424" y="20849"/>
                  <a:pt x="18781" y="20849"/>
                </a:cubicBezTo>
                <a:cubicBezTo>
                  <a:pt x="26629" y="20849"/>
                  <a:pt x="37602" y="21946"/>
                  <a:pt x="41641" y="15217"/>
                </a:cubicBezTo>
                <a:cubicBezTo>
                  <a:pt x="43516" y="12094"/>
                  <a:pt x="41835" y="6891"/>
                  <a:pt x="38991" y="4615"/>
                </a:cubicBezTo>
                <a:cubicBezTo>
                  <a:pt x="36100" y="2302"/>
                  <a:pt x="31949" y="2318"/>
                  <a:pt x="28389" y="130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5" name="Google Shape;355;p57"/>
          <p:cNvSpPr txBox="1"/>
          <p:nvPr/>
        </p:nvSpPr>
        <p:spPr>
          <a:xfrm>
            <a:off x="2078925" y="257175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Inverter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6" name="Google Shape;356;p57"/>
          <p:cNvSpPr txBox="1"/>
          <p:nvPr/>
        </p:nvSpPr>
        <p:spPr>
          <a:xfrm>
            <a:off x="1220850" y="324180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Transmission Gate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357" name="Google Shape;357;p57"/>
          <p:cNvSpPr txBox="1"/>
          <p:nvPr/>
        </p:nvSpPr>
        <p:spPr>
          <a:xfrm>
            <a:off x="2004325" y="4349575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58" name="Google Shape;358;p57"/>
          <p:cNvSpPr txBox="1"/>
          <p:nvPr/>
        </p:nvSpPr>
        <p:spPr>
          <a:xfrm>
            <a:off x="3208700" y="2178500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59" name="Google Shape;359;p57"/>
          <p:cNvSpPr txBox="1"/>
          <p:nvPr/>
        </p:nvSpPr>
        <p:spPr>
          <a:xfrm>
            <a:off x="6799975" y="3816575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60" name="Google Shape;360;p57"/>
          <p:cNvSpPr txBox="1"/>
          <p:nvPr/>
        </p:nvSpPr>
        <p:spPr>
          <a:xfrm>
            <a:off x="5063250" y="3582900"/>
            <a:ext cx="1681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LHP Zero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361" name="Google Shape;361;p57"/>
          <p:cNvCxnSpPr/>
          <p:nvPr/>
        </p:nvCxnSpPr>
        <p:spPr>
          <a:xfrm>
            <a:off x="5556425" y="3123800"/>
            <a:ext cx="45000" cy="52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/>
          <p:nvPr>
            <p:ph type="title"/>
          </p:nvPr>
        </p:nvSpPr>
        <p:spPr>
          <a:xfrm>
            <a:off x="245425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Results</a:t>
            </a:r>
            <a:endParaRPr/>
          </a:p>
        </p:txBody>
      </p:sp>
      <p:sp>
        <p:nvSpPr>
          <p:cNvPr id="367" name="Google Shape;367;p58"/>
          <p:cNvSpPr txBox="1"/>
          <p:nvPr/>
        </p:nvSpPr>
        <p:spPr>
          <a:xfrm>
            <a:off x="695750" y="2054075"/>
            <a:ext cx="811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Rz=0 Ohm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68" name="Google Shape;368;p58"/>
          <p:cNvSpPr txBox="1"/>
          <p:nvPr/>
        </p:nvSpPr>
        <p:spPr>
          <a:xfrm>
            <a:off x="4782425" y="2198200"/>
            <a:ext cx="811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Rz=1k Ohm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69" name="Google Shape;369;p58"/>
          <p:cNvSpPr txBox="1"/>
          <p:nvPr/>
        </p:nvSpPr>
        <p:spPr>
          <a:xfrm>
            <a:off x="627825" y="3874600"/>
            <a:ext cx="811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Rz=3k Ohm</a:t>
            </a:r>
            <a:endParaRPr sz="900">
              <a:solidFill>
                <a:schemeClr val="lt1"/>
              </a:solidFill>
            </a:endParaRPr>
          </a:p>
        </p:txBody>
      </p:sp>
      <p:pic>
        <p:nvPicPr>
          <p:cNvPr id="370" name="Google Shape;37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063" y="980200"/>
            <a:ext cx="7205874" cy="28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8"/>
          <p:cNvSpPr txBox="1"/>
          <p:nvPr/>
        </p:nvSpPr>
        <p:spPr>
          <a:xfrm>
            <a:off x="1176125" y="2020925"/>
            <a:ext cx="128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</a:t>
            </a:r>
            <a:r>
              <a:rPr baseline="-25000" lang="en" sz="1800">
                <a:solidFill>
                  <a:schemeClr val="lt1"/>
                </a:solidFill>
              </a:rPr>
              <a:t>z</a:t>
            </a:r>
            <a:r>
              <a:rPr lang="en" sz="1800">
                <a:solidFill>
                  <a:schemeClr val="lt1"/>
                </a:solidFill>
              </a:rPr>
              <a:t> = 0 Ω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2" name="Google Shape;372;p58"/>
          <p:cNvSpPr txBox="1"/>
          <p:nvPr/>
        </p:nvSpPr>
        <p:spPr>
          <a:xfrm>
            <a:off x="4865200" y="2054075"/>
            <a:ext cx="128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</a:t>
            </a:r>
            <a:r>
              <a:rPr baseline="-25000" lang="en" sz="1800">
                <a:solidFill>
                  <a:schemeClr val="lt1"/>
                </a:solidFill>
              </a:rPr>
              <a:t>z</a:t>
            </a:r>
            <a:r>
              <a:rPr lang="en" sz="1800">
                <a:solidFill>
                  <a:schemeClr val="lt1"/>
                </a:solidFill>
              </a:rPr>
              <a:t> = 1K Ω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3" name="Google Shape;373;p58"/>
          <p:cNvSpPr txBox="1"/>
          <p:nvPr/>
        </p:nvSpPr>
        <p:spPr>
          <a:xfrm>
            <a:off x="1176125" y="3402475"/>
            <a:ext cx="1813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</a:t>
            </a:r>
            <a:r>
              <a:rPr baseline="-25000" lang="en" sz="1800">
                <a:solidFill>
                  <a:schemeClr val="lt1"/>
                </a:solidFill>
              </a:rPr>
              <a:t>z</a:t>
            </a:r>
            <a:r>
              <a:rPr lang="en" sz="1800">
                <a:solidFill>
                  <a:schemeClr val="lt1"/>
                </a:solidFill>
              </a:rPr>
              <a:t> = 2 K Ω</a:t>
            </a:r>
            <a:endParaRPr sz="1800">
              <a:solidFill>
                <a:schemeClr val="lt1"/>
              </a:solidFill>
            </a:endParaRPr>
          </a:p>
        </p:txBody>
      </p:sp>
      <p:graphicFrame>
        <p:nvGraphicFramePr>
          <p:cNvPr id="374" name="Google Shape;374;p58"/>
          <p:cNvGraphicFramePr/>
          <p:nvPr/>
        </p:nvGraphicFramePr>
        <p:xfrm>
          <a:off x="47458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{56963547-9ECA-4E9F-9ABF-BA9760A569E4}</a:tableStyleId>
              </a:tblPr>
              <a:tblGrid>
                <a:gridCol w="1474350"/>
                <a:gridCol w="1474350"/>
              </a:tblGrid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</a:t>
                      </a:r>
                      <a:r>
                        <a:rPr b="1" baseline="-25000" lang="en" sz="1200"/>
                        <a:t>z</a:t>
                      </a:r>
                      <a:r>
                        <a:rPr b="1" lang="en" sz="1200"/>
                        <a:t> value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Phase Margin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z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= 0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Ω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≈ 63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°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z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= 1K Ω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≈ 81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°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z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= 2K Ω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≈ 98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°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 txBox="1"/>
          <p:nvPr>
            <p:ph type="title"/>
          </p:nvPr>
        </p:nvSpPr>
        <p:spPr>
          <a:xfrm>
            <a:off x="3537000" y="2285400"/>
            <a:ext cx="207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Thank you</a:t>
            </a:r>
            <a:endParaRPr b="1" sz="2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